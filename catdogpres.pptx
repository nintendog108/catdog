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Merriweather" panose="020F0502020204030204" pitchFamily="2" charset="0"/>
      <p:regular r:id="rId17"/>
    </p:embeddedFont>
    <p:embeddedFont>
      <p:font typeface="Merriweather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5" d="100"/>
          <a:sy n="85" d="100"/>
        </p:scale>
        <p:origin x="627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8.png"/><Relationship Id="rId7" Type="http://schemas.openxmlformats.org/officeDocument/2006/relationships/image" Target="../media/image7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1.png"/><Relationship Id="rId7" Type="http://schemas.openxmlformats.org/officeDocument/2006/relationships/image" Target="../media/image33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35.png"/><Relationship Id="rId7" Type="http://schemas.openxmlformats.org/officeDocument/2006/relationships/image" Target="../media/image6.png"/><Relationship Id="rId12" Type="http://schemas.openxmlformats.org/officeDocument/2006/relationships/image" Target="../media/image13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12.png"/><Relationship Id="rId5" Type="http://schemas.openxmlformats.org/officeDocument/2006/relationships/image" Target="../media/image5.svg"/><Relationship Id="rId10" Type="http://schemas.openxmlformats.org/officeDocument/2006/relationships/image" Target="../media/image11.sv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5.svg"/><Relationship Id="rId7" Type="http://schemas.openxmlformats.org/officeDocument/2006/relationships/image" Target="../media/image6.png"/><Relationship Id="rId12" Type="http://schemas.openxmlformats.org/officeDocument/2006/relationships/image" Target="../media/image13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12.png"/><Relationship Id="rId5" Type="http://schemas.openxmlformats.org/officeDocument/2006/relationships/image" Target="../media/image38.png"/><Relationship Id="rId10" Type="http://schemas.openxmlformats.org/officeDocument/2006/relationships/image" Target="../media/image11.svg"/><Relationship Id="rId4" Type="http://schemas.openxmlformats.org/officeDocument/2006/relationships/image" Target="../media/image37.png"/><Relationship Id="rId9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43.png"/><Relationship Id="rId3" Type="http://schemas.openxmlformats.org/officeDocument/2006/relationships/image" Target="../media/image41.png"/><Relationship Id="rId7" Type="http://schemas.openxmlformats.org/officeDocument/2006/relationships/image" Target="../media/image5.sv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image" Target="../media/image40.png"/><Relationship Id="rId16" Type="http://schemas.openxmlformats.org/officeDocument/2006/relationships/image" Target="../media/image4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5" Type="http://schemas.openxmlformats.org/officeDocument/2006/relationships/image" Target="../media/image45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-435205">
            <a:off x="409739" y="1154769"/>
            <a:ext cx="10373119" cy="18077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962"/>
              </a:lnSpc>
            </a:pPr>
            <a:r>
              <a:rPr lang="en-US" sz="13800" b="1" spc="-757" dirty="0">
                <a:solidFill>
                  <a:srgbClr val="3B3B3B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Cats vs Dogs</a:t>
            </a:r>
          </a:p>
        </p:txBody>
      </p:sp>
      <p:sp>
        <p:nvSpPr>
          <p:cNvPr id="3" name="TextBox 3"/>
          <p:cNvSpPr txBox="1"/>
          <p:nvPr/>
        </p:nvSpPr>
        <p:spPr>
          <a:xfrm rot="21186179">
            <a:off x="511874" y="2574091"/>
            <a:ext cx="10776121" cy="155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92"/>
              </a:lnSpc>
            </a:pPr>
            <a:r>
              <a:rPr lang="en-US" sz="9600" b="1" spc="-693" dirty="0">
                <a:solidFill>
                  <a:srgbClr val="A4591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Classification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259005" y="6172200"/>
            <a:ext cx="4308691" cy="4114800"/>
          </a:xfrm>
          <a:custGeom>
            <a:avLst/>
            <a:gdLst/>
            <a:ahLst/>
            <a:cxnLst/>
            <a:rect l="l" t="t" r="r" b="b"/>
            <a:pathLst>
              <a:path w="4308691" h="4114800">
                <a:moveTo>
                  <a:pt x="4308691" y="0"/>
                </a:moveTo>
                <a:lnTo>
                  <a:pt x="0" y="0"/>
                </a:lnTo>
                <a:lnTo>
                  <a:pt x="0" y="4114800"/>
                </a:lnTo>
                <a:lnTo>
                  <a:pt x="4308691" y="4114800"/>
                </a:lnTo>
                <a:lnTo>
                  <a:pt x="4308691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 flipH="1">
            <a:off x="14720745" y="6491166"/>
            <a:ext cx="3454271" cy="3682919"/>
          </a:xfrm>
          <a:custGeom>
            <a:avLst/>
            <a:gdLst/>
            <a:ahLst/>
            <a:cxnLst/>
            <a:rect l="l" t="t" r="r" b="b"/>
            <a:pathLst>
              <a:path w="3454271" h="3682919">
                <a:moveTo>
                  <a:pt x="3454271" y="0"/>
                </a:moveTo>
                <a:lnTo>
                  <a:pt x="0" y="0"/>
                </a:lnTo>
                <a:lnTo>
                  <a:pt x="0" y="3682918"/>
                </a:lnTo>
                <a:lnTo>
                  <a:pt x="3454271" y="3682918"/>
                </a:lnTo>
                <a:lnTo>
                  <a:pt x="3454271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/>
          <p:cNvSpPr/>
          <p:nvPr/>
        </p:nvSpPr>
        <p:spPr>
          <a:xfrm rot="-4135024" flipH="1">
            <a:off x="12885667" y="2260523"/>
            <a:ext cx="2681710" cy="3581583"/>
          </a:xfrm>
          <a:custGeom>
            <a:avLst/>
            <a:gdLst/>
            <a:ahLst/>
            <a:cxnLst/>
            <a:rect l="l" t="t" r="r" b="b"/>
            <a:pathLst>
              <a:path w="2681710" h="3581583">
                <a:moveTo>
                  <a:pt x="2681710" y="0"/>
                </a:moveTo>
                <a:lnTo>
                  <a:pt x="0" y="0"/>
                </a:lnTo>
                <a:lnTo>
                  <a:pt x="0" y="3581583"/>
                </a:lnTo>
                <a:lnTo>
                  <a:pt x="2681710" y="3581583"/>
                </a:lnTo>
                <a:lnTo>
                  <a:pt x="268171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grpSp>
        <p:nvGrpSpPr>
          <p:cNvPr id="7" name="Group 7"/>
          <p:cNvGrpSpPr/>
          <p:nvPr/>
        </p:nvGrpSpPr>
        <p:grpSpPr>
          <a:xfrm rot="227125">
            <a:off x="6801060" y="5675622"/>
            <a:ext cx="4752885" cy="740530"/>
            <a:chOff x="0" y="0"/>
            <a:chExt cx="1357616" cy="2115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57616" cy="211525"/>
            </a:xfrm>
            <a:custGeom>
              <a:avLst/>
              <a:gdLst/>
              <a:ahLst/>
              <a:cxnLst/>
              <a:rect l="l" t="t" r="r" b="b"/>
              <a:pathLst>
                <a:path w="1357616" h="211525">
                  <a:moveTo>
                    <a:pt x="83073" y="0"/>
                  </a:moveTo>
                  <a:lnTo>
                    <a:pt x="1274542" y="0"/>
                  </a:lnTo>
                  <a:cubicBezTo>
                    <a:pt x="1320423" y="0"/>
                    <a:pt x="1357616" y="37193"/>
                    <a:pt x="1357616" y="83073"/>
                  </a:cubicBezTo>
                  <a:lnTo>
                    <a:pt x="1357616" y="128452"/>
                  </a:lnTo>
                  <a:cubicBezTo>
                    <a:pt x="1357616" y="174332"/>
                    <a:pt x="1320423" y="211525"/>
                    <a:pt x="1274542" y="211525"/>
                  </a:cubicBezTo>
                  <a:lnTo>
                    <a:pt x="83073" y="211525"/>
                  </a:lnTo>
                  <a:cubicBezTo>
                    <a:pt x="37193" y="211525"/>
                    <a:pt x="0" y="174332"/>
                    <a:pt x="0" y="128452"/>
                  </a:cubicBezTo>
                  <a:lnTo>
                    <a:pt x="0" y="83073"/>
                  </a:lnTo>
                  <a:cubicBezTo>
                    <a:pt x="0" y="37193"/>
                    <a:pt x="37193" y="0"/>
                    <a:pt x="83073" y="0"/>
                  </a:cubicBezTo>
                  <a:close/>
                </a:path>
              </a:pathLst>
            </a:custGeom>
            <a:solidFill>
              <a:srgbClr val="EDE0CA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57150"/>
              <a:ext cx="1357616" cy="15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94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2453396">
            <a:off x="5759674" y="6189214"/>
            <a:ext cx="1214730" cy="521108"/>
          </a:xfrm>
          <a:custGeom>
            <a:avLst/>
            <a:gdLst/>
            <a:ahLst/>
            <a:cxnLst/>
            <a:rect l="l" t="t" r="r" b="b"/>
            <a:pathLst>
              <a:path w="459203" h="209987">
                <a:moveTo>
                  <a:pt x="0" y="0"/>
                </a:moveTo>
                <a:lnTo>
                  <a:pt x="459203" y="0"/>
                </a:lnTo>
                <a:lnTo>
                  <a:pt x="459203" y="209987"/>
                </a:lnTo>
                <a:lnTo>
                  <a:pt x="0" y="2099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11"/>
          <p:cNvSpPr/>
          <p:nvPr/>
        </p:nvSpPr>
        <p:spPr>
          <a:xfrm rot="-1268607">
            <a:off x="8771162" y="4003706"/>
            <a:ext cx="1159868" cy="1094493"/>
          </a:xfrm>
          <a:custGeom>
            <a:avLst/>
            <a:gdLst/>
            <a:ahLst/>
            <a:cxnLst/>
            <a:rect l="l" t="t" r="r" b="b"/>
            <a:pathLst>
              <a:path w="1159868" h="1094493">
                <a:moveTo>
                  <a:pt x="0" y="0"/>
                </a:moveTo>
                <a:lnTo>
                  <a:pt x="1159867" y="0"/>
                </a:lnTo>
                <a:lnTo>
                  <a:pt x="1159867" y="1094494"/>
                </a:lnTo>
                <a:lnTo>
                  <a:pt x="0" y="10944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12"/>
          <p:cNvSpPr/>
          <p:nvPr/>
        </p:nvSpPr>
        <p:spPr>
          <a:xfrm rot="1285749">
            <a:off x="13139447" y="7906651"/>
            <a:ext cx="907417" cy="856272"/>
          </a:xfrm>
          <a:custGeom>
            <a:avLst/>
            <a:gdLst/>
            <a:ahLst/>
            <a:cxnLst/>
            <a:rect l="l" t="t" r="r" b="b"/>
            <a:pathLst>
              <a:path w="907417" h="856272">
                <a:moveTo>
                  <a:pt x="0" y="0"/>
                </a:moveTo>
                <a:lnTo>
                  <a:pt x="907417" y="0"/>
                </a:lnTo>
                <a:lnTo>
                  <a:pt x="907417" y="856272"/>
                </a:lnTo>
                <a:lnTo>
                  <a:pt x="0" y="8562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13"/>
          <p:cNvSpPr/>
          <p:nvPr/>
        </p:nvSpPr>
        <p:spPr>
          <a:xfrm rot="-9838349">
            <a:off x="7827651" y="7688764"/>
            <a:ext cx="1795945" cy="653071"/>
          </a:xfrm>
          <a:custGeom>
            <a:avLst/>
            <a:gdLst/>
            <a:ahLst/>
            <a:cxnLst/>
            <a:rect l="l" t="t" r="r" b="b"/>
            <a:pathLst>
              <a:path w="1795945" h="653071">
                <a:moveTo>
                  <a:pt x="0" y="0"/>
                </a:moveTo>
                <a:lnTo>
                  <a:pt x="1795944" y="0"/>
                </a:lnTo>
                <a:lnTo>
                  <a:pt x="1795944" y="653071"/>
                </a:lnTo>
                <a:lnTo>
                  <a:pt x="0" y="6530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14"/>
          <p:cNvSpPr/>
          <p:nvPr/>
        </p:nvSpPr>
        <p:spPr>
          <a:xfrm>
            <a:off x="10943233" y="2269030"/>
            <a:ext cx="733829" cy="794500"/>
          </a:xfrm>
          <a:custGeom>
            <a:avLst/>
            <a:gdLst/>
            <a:ahLst/>
            <a:cxnLst/>
            <a:rect l="l" t="t" r="r" b="b"/>
            <a:pathLst>
              <a:path w="733829" h="794500">
                <a:moveTo>
                  <a:pt x="0" y="0"/>
                </a:moveTo>
                <a:lnTo>
                  <a:pt x="733829" y="0"/>
                </a:lnTo>
                <a:lnTo>
                  <a:pt x="733829" y="794500"/>
                </a:lnTo>
                <a:lnTo>
                  <a:pt x="0" y="794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5"/>
          <p:cNvSpPr/>
          <p:nvPr/>
        </p:nvSpPr>
        <p:spPr>
          <a:xfrm rot="1584023">
            <a:off x="17030796" y="4947019"/>
            <a:ext cx="800595" cy="866786"/>
          </a:xfrm>
          <a:custGeom>
            <a:avLst/>
            <a:gdLst/>
            <a:ahLst/>
            <a:cxnLst/>
            <a:rect l="l" t="t" r="r" b="b"/>
            <a:pathLst>
              <a:path w="800595" h="866786">
                <a:moveTo>
                  <a:pt x="0" y="0"/>
                </a:moveTo>
                <a:lnTo>
                  <a:pt x="800594" y="0"/>
                </a:lnTo>
                <a:lnTo>
                  <a:pt x="800594" y="866786"/>
                </a:lnTo>
                <a:lnTo>
                  <a:pt x="0" y="8667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TextBox 16"/>
          <p:cNvSpPr txBox="1"/>
          <p:nvPr/>
        </p:nvSpPr>
        <p:spPr>
          <a:xfrm rot="227125">
            <a:off x="6901740" y="5947973"/>
            <a:ext cx="4525161" cy="289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42"/>
              </a:lnSpc>
            </a:pPr>
            <a:r>
              <a:rPr lang="en-US" sz="2581" spc="-116" dirty="0" err="1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Semesterproject</a:t>
            </a:r>
            <a:r>
              <a:rPr lang="en-US" sz="2581" spc="-116" dirty="0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 CVNLP WS25</a:t>
            </a:r>
          </a:p>
        </p:txBody>
      </p:sp>
      <p:sp>
        <p:nvSpPr>
          <p:cNvPr id="17" name="Freeform 17"/>
          <p:cNvSpPr/>
          <p:nvPr/>
        </p:nvSpPr>
        <p:spPr>
          <a:xfrm rot="-717865">
            <a:off x="384637" y="530421"/>
            <a:ext cx="446494" cy="419704"/>
          </a:xfrm>
          <a:custGeom>
            <a:avLst/>
            <a:gdLst/>
            <a:ahLst/>
            <a:cxnLst/>
            <a:rect l="l" t="t" r="r" b="b"/>
            <a:pathLst>
              <a:path w="446494" h="419704">
                <a:moveTo>
                  <a:pt x="0" y="0"/>
                </a:moveTo>
                <a:lnTo>
                  <a:pt x="446494" y="0"/>
                </a:lnTo>
                <a:lnTo>
                  <a:pt x="446494" y="419704"/>
                </a:lnTo>
                <a:lnTo>
                  <a:pt x="0" y="41970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dirty="0"/>
          </a:p>
        </p:txBody>
      </p:sp>
      <p:sp>
        <p:nvSpPr>
          <p:cNvPr id="18" name="Freeform 18"/>
          <p:cNvSpPr/>
          <p:nvPr/>
        </p:nvSpPr>
        <p:spPr>
          <a:xfrm rot="5400000">
            <a:off x="17417698" y="7337386"/>
            <a:ext cx="446494" cy="419704"/>
          </a:xfrm>
          <a:custGeom>
            <a:avLst/>
            <a:gdLst/>
            <a:ahLst/>
            <a:cxnLst/>
            <a:rect l="l" t="t" r="r" b="b"/>
            <a:pathLst>
              <a:path w="446494" h="419704">
                <a:moveTo>
                  <a:pt x="0" y="0"/>
                </a:moveTo>
                <a:lnTo>
                  <a:pt x="446494" y="0"/>
                </a:lnTo>
                <a:lnTo>
                  <a:pt x="446494" y="419705"/>
                </a:lnTo>
                <a:lnTo>
                  <a:pt x="0" y="41970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grpSp>
        <p:nvGrpSpPr>
          <p:cNvPr id="23" name="Group 7">
            <a:extLst>
              <a:ext uri="{FF2B5EF4-FFF2-40B4-BE49-F238E27FC236}">
                <a16:creationId xmlns:a16="http://schemas.microsoft.com/office/drawing/2014/main" id="{C18436B0-42F5-6115-081B-47BF21A62FB0}"/>
              </a:ext>
            </a:extLst>
          </p:cNvPr>
          <p:cNvGrpSpPr/>
          <p:nvPr/>
        </p:nvGrpSpPr>
        <p:grpSpPr>
          <a:xfrm>
            <a:off x="3429000" y="9258300"/>
            <a:ext cx="11816154" cy="740530"/>
            <a:chOff x="0" y="0"/>
            <a:chExt cx="1357616" cy="211525"/>
          </a:xfrm>
        </p:grpSpPr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5926D9E6-28E8-A22B-6B9D-21A8FBFAA1F8}"/>
                </a:ext>
              </a:extLst>
            </p:cNvPr>
            <p:cNvSpPr/>
            <p:nvPr/>
          </p:nvSpPr>
          <p:spPr>
            <a:xfrm>
              <a:off x="0" y="0"/>
              <a:ext cx="1357616" cy="211525"/>
            </a:xfrm>
            <a:custGeom>
              <a:avLst/>
              <a:gdLst/>
              <a:ahLst/>
              <a:cxnLst/>
              <a:rect l="l" t="t" r="r" b="b"/>
              <a:pathLst>
                <a:path w="1357616" h="211525">
                  <a:moveTo>
                    <a:pt x="83073" y="0"/>
                  </a:moveTo>
                  <a:lnTo>
                    <a:pt x="1274542" y="0"/>
                  </a:lnTo>
                  <a:cubicBezTo>
                    <a:pt x="1320423" y="0"/>
                    <a:pt x="1357616" y="37193"/>
                    <a:pt x="1357616" y="83073"/>
                  </a:cubicBezTo>
                  <a:lnTo>
                    <a:pt x="1357616" y="128452"/>
                  </a:lnTo>
                  <a:cubicBezTo>
                    <a:pt x="1357616" y="174332"/>
                    <a:pt x="1320423" y="211525"/>
                    <a:pt x="1274542" y="211525"/>
                  </a:cubicBezTo>
                  <a:lnTo>
                    <a:pt x="83073" y="211525"/>
                  </a:lnTo>
                  <a:cubicBezTo>
                    <a:pt x="37193" y="211525"/>
                    <a:pt x="0" y="174332"/>
                    <a:pt x="0" y="128452"/>
                  </a:cubicBezTo>
                  <a:lnTo>
                    <a:pt x="0" y="83073"/>
                  </a:lnTo>
                  <a:cubicBezTo>
                    <a:pt x="0" y="37193"/>
                    <a:pt x="37193" y="0"/>
                    <a:pt x="83073" y="0"/>
                  </a:cubicBezTo>
                  <a:close/>
                </a:path>
              </a:pathLst>
            </a:custGeom>
            <a:solidFill>
              <a:srgbClr val="EDE0CA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25" name="TextBox 9">
              <a:extLst>
                <a:ext uri="{FF2B5EF4-FFF2-40B4-BE49-F238E27FC236}">
                  <a16:creationId xmlns:a16="http://schemas.microsoft.com/office/drawing/2014/main" id="{877E63A6-3FB6-EE04-F0CF-DE6A065AA1F7}"/>
                </a:ext>
              </a:extLst>
            </p:cNvPr>
            <p:cNvSpPr txBox="1"/>
            <p:nvPr/>
          </p:nvSpPr>
          <p:spPr>
            <a:xfrm>
              <a:off x="0" y="57150"/>
              <a:ext cx="1357616" cy="15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94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3495157" y="9530243"/>
            <a:ext cx="11711881" cy="3089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42"/>
              </a:lnSpc>
            </a:pPr>
            <a:r>
              <a:rPr lang="en-US" sz="3200" spc="-116" dirty="0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Alexandra Chava </a:t>
            </a:r>
            <a:r>
              <a:rPr lang="en-US" sz="3200" spc="-116" dirty="0" err="1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Seymann</a:t>
            </a:r>
            <a:r>
              <a:rPr lang="en-US" sz="3200" spc="-116" dirty="0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,  Lisa Mayrhofer,  Fanni Horvath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0746" y="2170141"/>
            <a:ext cx="8911266" cy="7285153"/>
            <a:chOff x="0" y="0"/>
            <a:chExt cx="2347000" cy="19187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47000" cy="1918723"/>
            </a:xfrm>
            <a:custGeom>
              <a:avLst/>
              <a:gdLst/>
              <a:ahLst/>
              <a:cxnLst/>
              <a:rect l="l" t="t" r="r" b="b"/>
              <a:pathLst>
                <a:path w="2347000" h="1918723">
                  <a:moveTo>
                    <a:pt x="44308" y="0"/>
                  </a:moveTo>
                  <a:lnTo>
                    <a:pt x="2302692" y="0"/>
                  </a:lnTo>
                  <a:cubicBezTo>
                    <a:pt x="2314444" y="0"/>
                    <a:pt x="2325713" y="4668"/>
                    <a:pt x="2334023" y="12977"/>
                  </a:cubicBezTo>
                  <a:cubicBezTo>
                    <a:pt x="2342332" y="21287"/>
                    <a:pt x="2347000" y="32557"/>
                    <a:pt x="2347000" y="44308"/>
                  </a:cubicBezTo>
                  <a:lnTo>
                    <a:pt x="2347000" y="1874416"/>
                  </a:lnTo>
                  <a:cubicBezTo>
                    <a:pt x="2347000" y="1886167"/>
                    <a:pt x="2342332" y="1897437"/>
                    <a:pt x="2334023" y="1905746"/>
                  </a:cubicBezTo>
                  <a:cubicBezTo>
                    <a:pt x="2325713" y="1914055"/>
                    <a:pt x="2314444" y="1918723"/>
                    <a:pt x="2302692" y="1918723"/>
                  </a:cubicBezTo>
                  <a:lnTo>
                    <a:pt x="44308" y="1918723"/>
                  </a:lnTo>
                  <a:cubicBezTo>
                    <a:pt x="32557" y="1918723"/>
                    <a:pt x="21287" y="1914055"/>
                    <a:pt x="12977" y="1905746"/>
                  </a:cubicBezTo>
                  <a:cubicBezTo>
                    <a:pt x="4668" y="1897437"/>
                    <a:pt x="0" y="1886167"/>
                    <a:pt x="0" y="1874416"/>
                  </a:cubicBezTo>
                  <a:lnTo>
                    <a:pt x="0" y="44308"/>
                  </a:lnTo>
                  <a:cubicBezTo>
                    <a:pt x="0" y="32557"/>
                    <a:pt x="4668" y="21287"/>
                    <a:pt x="12977" y="12977"/>
                  </a:cubicBezTo>
                  <a:cubicBezTo>
                    <a:pt x="21287" y="4668"/>
                    <a:pt x="32557" y="0"/>
                    <a:pt x="44308" y="0"/>
                  </a:cubicBezTo>
                  <a:close/>
                </a:path>
              </a:pathLst>
            </a:custGeom>
            <a:solidFill>
              <a:srgbClr val="EDE0CA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0"/>
              <a:ext cx="2347000" cy="1823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42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465997" y="3902873"/>
            <a:ext cx="8760890" cy="5617921"/>
          </a:xfrm>
          <a:custGeom>
            <a:avLst/>
            <a:gdLst/>
            <a:ahLst/>
            <a:cxnLst/>
            <a:rect l="l" t="t" r="r" b="b"/>
            <a:pathLst>
              <a:path w="8760890" h="5617921">
                <a:moveTo>
                  <a:pt x="0" y="0"/>
                </a:moveTo>
                <a:lnTo>
                  <a:pt x="8760891" y="0"/>
                </a:lnTo>
                <a:lnTo>
                  <a:pt x="8760891" y="5617921"/>
                </a:lnTo>
                <a:lnTo>
                  <a:pt x="0" y="56179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6"/>
          <p:cNvSpPr txBox="1"/>
          <p:nvPr/>
        </p:nvSpPr>
        <p:spPr>
          <a:xfrm>
            <a:off x="350746" y="466336"/>
            <a:ext cx="8258892" cy="195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93"/>
              </a:lnSpc>
            </a:pPr>
            <a:r>
              <a:rPr lang="en-US" sz="16979" b="1" spc="-764">
                <a:solidFill>
                  <a:srgbClr val="A4591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Dataset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3854" y="2600863"/>
            <a:ext cx="7717854" cy="683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2503" lvl="1" indent="-296252" algn="l">
              <a:lnSpc>
                <a:spcPts val="3018"/>
              </a:lnSpc>
              <a:buFont typeface="Arial"/>
              <a:buChar char="•"/>
            </a:pPr>
            <a:r>
              <a:rPr lang="en-US" sz="2744" spc="-123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Source:</a:t>
            </a:r>
          </a:p>
          <a:p>
            <a:pPr marL="1185006" lvl="2" indent="-395002" algn="l">
              <a:lnSpc>
                <a:spcPts val="4390"/>
              </a:lnSpc>
              <a:buFont typeface="Arial"/>
              <a:buChar char="⚬"/>
            </a:pPr>
            <a:r>
              <a:rPr lang="en-US" sz="2744" spc="-123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Kaggle </a:t>
            </a:r>
            <a:r>
              <a:rPr lang="en-US" sz="2744" u="sng" spc="-123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Cats vs Dogs</a:t>
            </a:r>
            <a:r>
              <a:rPr lang="en-US" sz="2744" spc="-123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 dataset</a:t>
            </a:r>
          </a:p>
          <a:p>
            <a:pPr algn="l">
              <a:lnSpc>
                <a:spcPts val="4390"/>
              </a:lnSpc>
            </a:pPr>
            <a:endParaRPr lang="en-US" sz="2744" spc="-123">
              <a:solidFill>
                <a:srgbClr val="3B3B3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592503" lvl="1" indent="-296252" algn="l">
              <a:lnSpc>
                <a:spcPts val="3018"/>
              </a:lnSpc>
              <a:buFont typeface="Arial"/>
              <a:buChar char="•"/>
            </a:pPr>
            <a:r>
              <a:rPr lang="en-US" sz="2744" spc="-123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~25 000 labeled images, split into train / validation / test sets</a:t>
            </a:r>
          </a:p>
          <a:p>
            <a:pPr algn="l">
              <a:lnSpc>
                <a:spcPts val="3018"/>
              </a:lnSpc>
            </a:pPr>
            <a:endParaRPr lang="en-US" sz="2744" spc="-123">
              <a:solidFill>
                <a:srgbClr val="3B3B3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592503" lvl="1" indent="-296252" algn="l">
              <a:lnSpc>
                <a:spcPts val="3018"/>
              </a:lnSpc>
              <a:buFont typeface="Arial"/>
              <a:buChar char="•"/>
            </a:pPr>
            <a:r>
              <a:rPr lang="en-US" sz="2744" spc="-123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Images vary in size, lighting, and background -&gt; good for generalization</a:t>
            </a:r>
          </a:p>
          <a:p>
            <a:pPr algn="l">
              <a:lnSpc>
                <a:spcPts val="3018"/>
              </a:lnSpc>
            </a:pPr>
            <a:endParaRPr lang="en-US" sz="2744" spc="-123">
              <a:solidFill>
                <a:srgbClr val="3B3B3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592503" lvl="1" indent="-296252" algn="l">
              <a:lnSpc>
                <a:spcPts val="3018"/>
              </a:lnSpc>
              <a:buFont typeface="Arial"/>
              <a:buChar char="•"/>
            </a:pPr>
            <a:r>
              <a:rPr lang="en-US" sz="2744" spc="-123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Balanced classes (~50 % cats / 50 % dogs)</a:t>
            </a:r>
          </a:p>
          <a:p>
            <a:pPr algn="l">
              <a:lnSpc>
                <a:spcPts val="3018"/>
              </a:lnSpc>
            </a:pPr>
            <a:endParaRPr lang="en-US" sz="2744" spc="-123">
              <a:solidFill>
                <a:srgbClr val="3B3B3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592503" lvl="1" indent="-296252" algn="l">
              <a:lnSpc>
                <a:spcPts val="3018"/>
              </a:lnSpc>
              <a:buFont typeface="Arial"/>
              <a:buChar char="•"/>
            </a:pPr>
            <a:r>
              <a:rPr lang="en-US" sz="2744" spc="-123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Folder structure created dynamically for reproducibility</a:t>
            </a:r>
          </a:p>
          <a:p>
            <a:pPr algn="l">
              <a:lnSpc>
                <a:spcPts val="3018"/>
              </a:lnSpc>
            </a:pPr>
            <a:endParaRPr lang="en-US" sz="2744" spc="-123">
              <a:solidFill>
                <a:srgbClr val="3B3B3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592503" lvl="1" indent="-296252" algn="l">
              <a:lnSpc>
                <a:spcPts val="3018"/>
              </a:lnSpc>
              <a:buFont typeface="Arial"/>
              <a:buChar char="•"/>
            </a:pPr>
            <a:r>
              <a:rPr lang="en-US" sz="2744" spc="-123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Sample visualization helped detect outliers and confirm balance</a:t>
            </a:r>
          </a:p>
          <a:p>
            <a:pPr algn="l">
              <a:lnSpc>
                <a:spcPts val="3018"/>
              </a:lnSpc>
            </a:pPr>
            <a:endParaRPr lang="en-US" sz="2744" spc="-123">
              <a:solidFill>
                <a:srgbClr val="3B3B3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46215" y="2300491"/>
            <a:ext cx="9009051" cy="7365094"/>
            <a:chOff x="0" y="0"/>
            <a:chExt cx="2347000" cy="19187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47000" cy="1918723"/>
            </a:xfrm>
            <a:custGeom>
              <a:avLst/>
              <a:gdLst/>
              <a:ahLst/>
              <a:cxnLst/>
              <a:rect l="l" t="t" r="r" b="b"/>
              <a:pathLst>
                <a:path w="2347000" h="1918723">
                  <a:moveTo>
                    <a:pt x="43827" y="0"/>
                  </a:moveTo>
                  <a:lnTo>
                    <a:pt x="2303173" y="0"/>
                  </a:lnTo>
                  <a:cubicBezTo>
                    <a:pt x="2327378" y="0"/>
                    <a:pt x="2347000" y="19622"/>
                    <a:pt x="2347000" y="43827"/>
                  </a:cubicBezTo>
                  <a:lnTo>
                    <a:pt x="2347000" y="1874897"/>
                  </a:lnTo>
                  <a:cubicBezTo>
                    <a:pt x="2347000" y="1886520"/>
                    <a:pt x="2342383" y="1897668"/>
                    <a:pt x="2334164" y="1905887"/>
                  </a:cubicBezTo>
                  <a:cubicBezTo>
                    <a:pt x="2325944" y="1914106"/>
                    <a:pt x="2314797" y="1918723"/>
                    <a:pt x="2303173" y="1918723"/>
                  </a:cubicBezTo>
                  <a:lnTo>
                    <a:pt x="43827" y="1918723"/>
                  </a:lnTo>
                  <a:cubicBezTo>
                    <a:pt x="32203" y="1918723"/>
                    <a:pt x="21056" y="1914106"/>
                    <a:pt x="12837" y="1905887"/>
                  </a:cubicBezTo>
                  <a:cubicBezTo>
                    <a:pt x="4617" y="1897668"/>
                    <a:pt x="0" y="1886520"/>
                    <a:pt x="0" y="1874897"/>
                  </a:cubicBezTo>
                  <a:lnTo>
                    <a:pt x="0" y="43827"/>
                  </a:lnTo>
                  <a:cubicBezTo>
                    <a:pt x="0" y="32203"/>
                    <a:pt x="4617" y="21056"/>
                    <a:pt x="12837" y="12837"/>
                  </a:cubicBezTo>
                  <a:cubicBezTo>
                    <a:pt x="21056" y="4617"/>
                    <a:pt x="32203" y="0"/>
                    <a:pt x="43827" y="0"/>
                  </a:cubicBezTo>
                  <a:close/>
                </a:path>
              </a:pathLst>
            </a:custGeom>
            <a:solidFill>
              <a:srgbClr val="EDE0CA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0"/>
              <a:ext cx="2347000" cy="1823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4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635782">
            <a:off x="6480007" y="6921711"/>
            <a:ext cx="3086100" cy="2684992"/>
            <a:chOff x="0" y="0"/>
            <a:chExt cx="812800" cy="7071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707158"/>
            </a:xfrm>
            <a:custGeom>
              <a:avLst/>
              <a:gdLst/>
              <a:ahLst/>
              <a:cxnLst/>
              <a:rect l="l" t="t" r="r" b="b"/>
              <a:pathLst>
                <a:path w="812800" h="707158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579218"/>
                  </a:lnTo>
                  <a:cubicBezTo>
                    <a:pt x="812800" y="649877"/>
                    <a:pt x="755519" y="707158"/>
                    <a:pt x="684859" y="707158"/>
                  </a:cubicBezTo>
                  <a:lnTo>
                    <a:pt x="127941" y="707158"/>
                  </a:lnTo>
                  <a:cubicBezTo>
                    <a:pt x="94009" y="707158"/>
                    <a:pt x="61467" y="693679"/>
                    <a:pt x="37473" y="669686"/>
                  </a:cubicBezTo>
                  <a:cubicBezTo>
                    <a:pt x="13479" y="645692"/>
                    <a:pt x="0" y="613150"/>
                    <a:pt x="0" y="57921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6A26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95250"/>
              <a:ext cx="812800" cy="611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42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480972" y="2831875"/>
            <a:ext cx="8360225" cy="6556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8612" lvl="1" indent="-294306" algn="l">
              <a:lnSpc>
                <a:spcPts val="3244"/>
              </a:lnSpc>
              <a:buFont typeface="Arial"/>
              <a:buChar char="•"/>
            </a:pPr>
            <a:r>
              <a:rPr lang="en-US" sz="2726" dirty="0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All images were resized to 224×224 pixels so the model gets inputs of the same size</a:t>
            </a:r>
          </a:p>
          <a:p>
            <a:pPr algn="l">
              <a:lnSpc>
                <a:spcPts val="3244"/>
              </a:lnSpc>
            </a:pPr>
            <a:endParaRPr lang="en-US" sz="2726" dirty="0">
              <a:solidFill>
                <a:srgbClr val="3B3B3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588612" lvl="1" indent="-294306" algn="l">
              <a:lnSpc>
                <a:spcPts val="3244"/>
              </a:lnSpc>
              <a:buFont typeface="Arial"/>
              <a:buChar char="•"/>
            </a:pPr>
            <a:r>
              <a:rPr lang="en-US" sz="2726" dirty="0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We added random flips so the model sees cats and dogs from both left and right sides</a:t>
            </a:r>
          </a:p>
          <a:p>
            <a:pPr algn="l">
              <a:lnSpc>
                <a:spcPts val="3244"/>
              </a:lnSpc>
            </a:pPr>
            <a:endParaRPr lang="en-US" sz="2726" dirty="0">
              <a:solidFill>
                <a:srgbClr val="3B3B3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588612" lvl="1" indent="-294306" algn="l">
              <a:lnSpc>
                <a:spcPts val="3244"/>
              </a:lnSpc>
              <a:buFont typeface="Arial"/>
              <a:buChar char="•"/>
            </a:pPr>
            <a:r>
              <a:rPr lang="en-US" sz="2726" dirty="0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Used color changes (brightness, contrast, etc.) to make the model less sensitive to lighting</a:t>
            </a:r>
          </a:p>
          <a:p>
            <a:pPr algn="l">
              <a:lnSpc>
                <a:spcPts val="3244"/>
              </a:lnSpc>
            </a:pPr>
            <a:endParaRPr lang="en-US" sz="2726" dirty="0">
              <a:solidFill>
                <a:srgbClr val="3B3B3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588612" lvl="1" indent="-294306" algn="l">
              <a:lnSpc>
                <a:spcPts val="3244"/>
              </a:lnSpc>
              <a:buFont typeface="Arial"/>
              <a:buChar char="•"/>
            </a:pPr>
            <a:r>
              <a:rPr lang="en-US" sz="2726" dirty="0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Applied normalization to help the model train faster and more stable</a:t>
            </a:r>
          </a:p>
          <a:p>
            <a:pPr algn="l">
              <a:lnSpc>
                <a:spcPts val="3244"/>
              </a:lnSpc>
            </a:pPr>
            <a:endParaRPr lang="en-US" sz="2726" dirty="0">
              <a:solidFill>
                <a:srgbClr val="3B3B3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588612" lvl="1" indent="-294306" algn="l">
              <a:lnSpc>
                <a:spcPts val="3244"/>
              </a:lnSpc>
              <a:buFont typeface="Arial"/>
              <a:buChar char="•"/>
            </a:pPr>
            <a:r>
              <a:rPr lang="en-US" sz="2726" dirty="0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For validation and test, we only resized the images</a:t>
            </a:r>
          </a:p>
          <a:p>
            <a:pPr algn="l">
              <a:lnSpc>
                <a:spcPts val="3244"/>
              </a:lnSpc>
            </a:pPr>
            <a:endParaRPr lang="en-US" sz="2726" dirty="0">
              <a:solidFill>
                <a:srgbClr val="3B3B3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486605" y="5484137"/>
            <a:ext cx="4772845" cy="4802863"/>
          </a:xfrm>
          <a:custGeom>
            <a:avLst/>
            <a:gdLst/>
            <a:ahLst/>
            <a:cxnLst/>
            <a:rect l="l" t="t" r="r" b="b"/>
            <a:pathLst>
              <a:path w="4772845" h="4802863">
                <a:moveTo>
                  <a:pt x="0" y="0"/>
                </a:moveTo>
                <a:lnTo>
                  <a:pt x="4772845" y="0"/>
                </a:lnTo>
                <a:lnTo>
                  <a:pt x="4772845" y="4802863"/>
                </a:lnTo>
                <a:lnTo>
                  <a:pt x="0" y="48028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10"/>
          <p:cNvSpPr/>
          <p:nvPr/>
        </p:nvSpPr>
        <p:spPr>
          <a:xfrm>
            <a:off x="0" y="9394"/>
            <a:ext cx="7183343" cy="5474742"/>
          </a:xfrm>
          <a:custGeom>
            <a:avLst/>
            <a:gdLst/>
            <a:ahLst/>
            <a:cxnLst/>
            <a:rect l="l" t="t" r="r" b="b"/>
            <a:pathLst>
              <a:path w="7183343" h="5474742">
                <a:moveTo>
                  <a:pt x="0" y="0"/>
                </a:moveTo>
                <a:lnTo>
                  <a:pt x="7183343" y="0"/>
                </a:lnTo>
                <a:lnTo>
                  <a:pt x="7183343" y="5474743"/>
                </a:lnTo>
                <a:lnTo>
                  <a:pt x="0" y="5474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TextBox 11"/>
          <p:cNvSpPr txBox="1"/>
          <p:nvPr/>
        </p:nvSpPr>
        <p:spPr>
          <a:xfrm>
            <a:off x="9046215" y="735304"/>
            <a:ext cx="9106836" cy="1186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31"/>
              </a:lnSpc>
            </a:pPr>
            <a:r>
              <a:rPr lang="en-US" sz="8000" b="1" spc="-489" dirty="0">
                <a:solidFill>
                  <a:srgbClr val="A4591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Preprocessing</a:t>
            </a:r>
          </a:p>
        </p:txBody>
      </p:sp>
      <p:sp>
        <p:nvSpPr>
          <p:cNvPr id="12" name="TextBox 12"/>
          <p:cNvSpPr txBox="1"/>
          <p:nvPr/>
        </p:nvSpPr>
        <p:spPr>
          <a:xfrm rot="-635782">
            <a:off x="6506487" y="7294163"/>
            <a:ext cx="3034892" cy="194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 spc="-90">
                <a:solidFill>
                  <a:srgbClr val="3B3B3B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We wanted the model to see many small variations of each image, but only during training — so it learns general patterns, not just memorizes specific pictures.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200319" y="7484382"/>
            <a:ext cx="1938259" cy="2623701"/>
          </a:xfrm>
          <a:custGeom>
            <a:avLst/>
            <a:gdLst/>
            <a:ahLst/>
            <a:cxnLst/>
            <a:rect l="l" t="t" r="r" b="b"/>
            <a:pathLst>
              <a:path w="1938259" h="2623701">
                <a:moveTo>
                  <a:pt x="0" y="0"/>
                </a:moveTo>
                <a:lnTo>
                  <a:pt x="1938259" y="0"/>
                </a:lnTo>
                <a:lnTo>
                  <a:pt x="1938259" y="2623701"/>
                </a:lnTo>
                <a:lnTo>
                  <a:pt x="0" y="26237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>
            <a:off x="13655894" y="8690782"/>
            <a:ext cx="1973685" cy="1596218"/>
          </a:xfrm>
          <a:custGeom>
            <a:avLst/>
            <a:gdLst/>
            <a:ahLst/>
            <a:cxnLst/>
            <a:rect l="l" t="t" r="r" b="b"/>
            <a:pathLst>
              <a:path w="1973685" h="1596218">
                <a:moveTo>
                  <a:pt x="0" y="0"/>
                </a:moveTo>
                <a:lnTo>
                  <a:pt x="1973685" y="0"/>
                </a:lnTo>
                <a:lnTo>
                  <a:pt x="1973685" y="1596218"/>
                </a:lnTo>
                <a:lnTo>
                  <a:pt x="0" y="1596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/>
          <p:cNvSpPr/>
          <p:nvPr/>
        </p:nvSpPr>
        <p:spPr>
          <a:xfrm rot="1335676">
            <a:off x="15688364" y="5851414"/>
            <a:ext cx="2046707" cy="1957396"/>
          </a:xfrm>
          <a:custGeom>
            <a:avLst/>
            <a:gdLst/>
            <a:ahLst/>
            <a:cxnLst/>
            <a:rect l="l" t="t" r="r" b="b"/>
            <a:pathLst>
              <a:path w="2046707" h="1957396">
                <a:moveTo>
                  <a:pt x="0" y="0"/>
                </a:moveTo>
                <a:lnTo>
                  <a:pt x="2046707" y="0"/>
                </a:lnTo>
                <a:lnTo>
                  <a:pt x="2046707" y="1957396"/>
                </a:lnTo>
                <a:lnTo>
                  <a:pt x="0" y="19573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TextBox 5"/>
          <p:cNvSpPr txBox="1"/>
          <p:nvPr/>
        </p:nvSpPr>
        <p:spPr>
          <a:xfrm>
            <a:off x="1028700" y="1081048"/>
            <a:ext cx="10844850" cy="1629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10"/>
              </a:lnSpc>
            </a:pPr>
            <a:r>
              <a:rPr lang="en-US" sz="13988" b="1" spc="-629">
                <a:solidFill>
                  <a:srgbClr val="3B3B3B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Model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279216" y="1622212"/>
            <a:ext cx="2980084" cy="134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108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To provide the best care, products, and love for pets and their owners.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279216" y="1047750"/>
            <a:ext cx="2700726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b="1" spc="-108">
                <a:solidFill>
                  <a:srgbClr val="A4591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Mission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7322" y="3607222"/>
            <a:ext cx="11515276" cy="467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2640"/>
              </a:lnSpc>
              <a:buFont typeface="Arial"/>
              <a:buChar char="•"/>
            </a:pPr>
            <a:r>
              <a:rPr lang="en-US" sz="2400" spc="-108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A custom CNN (SimpleCNN) with three convolutional layers is used to extract visual features</a:t>
            </a:r>
          </a:p>
          <a:p>
            <a:pPr algn="l">
              <a:lnSpc>
                <a:spcPts val="2640"/>
              </a:lnSpc>
            </a:pPr>
            <a:endParaRPr lang="en-US" sz="2400" spc="-108">
              <a:solidFill>
                <a:srgbClr val="3B3B3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518160" lvl="1" indent="-259080" algn="l">
              <a:lnSpc>
                <a:spcPts val="2640"/>
              </a:lnSpc>
              <a:buFont typeface="Arial"/>
              <a:buChar char="•"/>
            </a:pPr>
            <a:r>
              <a:rPr lang="en-US" sz="2400" spc="-108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Batch normalization and dropout layers improve training stability and reduce overfitting</a:t>
            </a:r>
          </a:p>
          <a:p>
            <a:pPr algn="l">
              <a:lnSpc>
                <a:spcPts val="2640"/>
              </a:lnSpc>
            </a:pPr>
            <a:endParaRPr lang="en-US" sz="2400" spc="-108">
              <a:solidFill>
                <a:srgbClr val="3B3B3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518160" lvl="1" indent="-259080" algn="l">
              <a:lnSpc>
                <a:spcPts val="2640"/>
              </a:lnSpc>
              <a:buFont typeface="Arial"/>
              <a:buChar char="•"/>
            </a:pPr>
            <a:r>
              <a:rPr lang="en-US" sz="2400" spc="-108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The output from the convolutional part is flattened and passed through two fully connected layers for classification into cat or dog</a:t>
            </a:r>
          </a:p>
          <a:p>
            <a:pPr algn="l">
              <a:lnSpc>
                <a:spcPts val="2640"/>
              </a:lnSpc>
            </a:pPr>
            <a:endParaRPr lang="en-US" sz="2400" spc="-108">
              <a:solidFill>
                <a:srgbClr val="3B3B3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518160" lvl="1" indent="-259080" algn="l">
              <a:lnSpc>
                <a:spcPts val="2640"/>
              </a:lnSpc>
              <a:buFont typeface="Arial"/>
              <a:buChar char="•"/>
            </a:pPr>
            <a:r>
              <a:rPr lang="en-US" sz="2400" spc="-108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The AdamW optimizer adjusts weights efficiently during training</a:t>
            </a:r>
          </a:p>
          <a:p>
            <a:pPr algn="l">
              <a:lnSpc>
                <a:spcPts val="2640"/>
              </a:lnSpc>
            </a:pPr>
            <a:endParaRPr lang="en-US" sz="2400" spc="-108">
              <a:solidFill>
                <a:srgbClr val="3B3B3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518160" lvl="1" indent="-259080" algn="l">
              <a:lnSpc>
                <a:spcPts val="2640"/>
              </a:lnSpc>
              <a:buFont typeface="Arial"/>
              <a:buChar char="•"/>
            </a:pPr>
            <a:r>
              <a:rPr lang="en-US" sz="2400" spc="-108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A learning rate scheduler (ReduceLROnPlateau) automatically lowers the learning rate when improvement slows down</a:t>
            </a:r>
          </a:p>
          <a:p>
            <a:pPr algn="l">
              <a:lnSpc>
                <a:spcPts val="2640"/>
              </a:lnSpc>
            </a:pPr>
            <a:endParaRPr lang="en-US" sz="2400" spc="-108">
              <a:solidFill>
                <a:srgbClr val="3B3B3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50874" y="2986192"/>
            <a:ext cx="2700726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b="1" spc="-108">
                <a:solidFill>
                  <a:srgbClr val="A4591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Architecture</a:t>
            </a:r>
          </a:p>
        </p:txBody>
      </p:sp>
      <p:sp>
        <p:nvSpPr>
          <p:cNvPr id="10" name="Freeform 10"/>
          <p:cNvSpPr/>
          <p:nvPr/>
        </p:nvSpPr>
        <p:spPr>
          <a:xfrm rot="1285749">
            <a:off x="15445094" y="7896075"/>
            <a:ext cx="1113208" cy="1050463"/>
          </a:xfrm>
          <a:custGeom>
            <a:avLst/>
            <a:gdLst/>
            <a:ahLst/>
            <a:cxnLst/>
            <a:rect l="l" t="t" r="r" b="b"/>
            <a:pathLst>
              <a:path w="1113208" h="1050463">
                <a:moveTo>
                  <a:pt x="0" y="0"/>
                </a:moveTo>
                <a:lnTo>
                  <a:pt x="1113208" y="0"/>
                </a:lnTo>
                <a:lnTo>
                  <a:pt x="1113208" y="1050463"/>
                </a:lnTo>
                <a:lnTo>
                  <a:pt x="0" y="10504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11"/>
          <p:cNvSpPr/>
          <p:nvPr/>
        </p:nvSpPr>
        <p:spPr>
          <a:xfrm rot="-1098438">
            <a:off x="15457155" y="8658197"/>
            <a:ext cx="1346462" cy="1270570"/>
          </a:xfrm>
          <a:custGeom>
            <a:avLst/>
            <a:gdLst/>
            <a:ahLst/>
            <a:cxnLst/>
            <a:rect l="l" t="t" r="r" b="b"/>
            <a:pathLst>
              <a:path w="1346462" h="1270570">
                <a:moveTo>
                  <a:pt x="0" y="0"/>
                </a:moveTo>
                <a:lnTo>
                  <a:pt x="1346461" y="0"/>
                </a:lnTo>
                <a:lnTo>
                  <a:pt x="1346461" y="1270570"/>
                </a:lnTo>
                <a:lnTo>
                  <a:pt x="0" y="12705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12"/>
          <p:cNvSpPr/>
          <p:nvPr/>
        </p:nvSpPr>
        <p:spPr>
          <a:xfrm rot="1584023">
            <a:off x="14891381" y="8256331"/>
            <a:ext cx="800595" cy="866786"/>
          </a:xfrm>
          <a:custGeom>
            <a:avLst/>
            <a:gdLst/>
            <a:ahLst/>
            <a:cxnLst/>
            <a:rect l="l" t="t" r="r" b="b"/>
            <a:pathLst>
              <a:path w="800595" h="866786">
                <a:moveTo>
                  <a:pt x="0" y="0"/>
                </a:moveTo>
                <a:lnTo>
                  <a:pt x="800595" y="0"/>
                </a:lnTo>
                <a:lnTo>
                  <a:pt x="800595" y="866785"/>
                </a:lnTo>
                <a:lnTo>
                  <a:pt x="0" y="8667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13"/>
          <p:cNvSpPr/>
          <p:nvPr/>
        </p:nvSpPr>
        <p:spPr>
          <a:xfrm rot="-564401">
            <a:off x="16763912" y="5248579"/>
            <a:ext cx="638430" cy="691213"/>
          </a:xfrm>
          <a:custGeom>
            <a:avLst/>
            <a:gdLst/>
            <a:ahLst/>
            <a:cxnLst/>
            <a:rect l="l" t="t" r="r" b="b"/>
            <a:pathLst>
              <a:path w="638430" h="691213">
                <a:moveTo>
                  <a:pt x="0" y="0"/>
                </a:moveTo>
                <a:lnTo>
                  <a:pt x="638429" y="0"/>
                </a:lnTo>
                <a:lnTo>
                  <a:pt x="638429" y="691214"/>
                </a:lnTo>
                <a:lnTo>
                  <a:pt x="0" y="6912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1092" y="804281"/>
            <a:ext cx="13867641" cy="1338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17"/>
              </a:lnSpc>
            </a:pPr>
            <a:r>
              <a:rPr lang="en-US" sz="11467" b="1" spc="-516">
                <a:solidFill>
                  <a:srgbClr val="3B3B3B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Training process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417831" y="2362020"/>
            <a:ext cx="6859779" cy="6523773"/>
            <a:chOff x="0" y="0"/>
            <a:chExt cx="1664664" cy="15831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64664" cy="1583125"/>
            </a:xfrm>
            <a:custGeom>
              <a:avLst/>
              <a:gdLst/>
              <a:ahLst/>
              <a:cxnLst/>
              <a:rect l="l" t="t" r="r" b="b"/>
              <a:pathLst>
                <a:path w="1664664" h="1583125">
                  <a:moveTo>
                    <a:pt x="57558" y="0"/>
                  </a:moveTo>
                  <a:lnTo>
                    <a:pt x="1607105" y="0"/>
                  </a:lnTo>
                  <a:cubicBezTo>
                    <a:pt x="1622371" y="0"/>
                    <a:pt x="1637011" y="6064"/>
                    <a:pt x="1647805" y="16858"/>
                  </a:cubicBezTo>
                  <a:cubicBezTo>
                    <a:pt x="1658600" y="27653"/>
                    <a:pt x="1664664" y="42293"/>
                    <a:pt x="1664664" y="57558"/>
                  </a:cubicBezTo>
                  <a:lnTo>
                    <a:pt x="1664664" y="1525567"/>
                  </a:lnTo>
                  <a:cubicBezTo>
                    <a:pt x="1664664" y="1540832"/>
                    <a:pt x="1658600" y="1555472"/>
                    <a:pt x="1647805" y="1566267"/>
                  </a:cubicBezTo>
                  <a:cubicBezTo>
                    <a:pt x="1637011" y="1577061"/>
                    <a:pt x="1622371" y="1583125"/>
                    <a:pt x="1607105" y="1583125"/>
                  </a:cubicBezTo>
                  <a:lnTo>
                    <a:pt x="57558" y="1583125"/>
                  </a:lnTo>
                  <a:cubicBezTo>
                    <a:pt x="25770" y="1583125"/>
                    <a:pt x="0" y="1557355"/>
                    <a:pt x="0" y="1525567"/>
                  </a:cubicBezTo>
                  <a:lnTo>
                    <a:pt x="0" y="57558"/>
                  </a:lnTo>
                  <a:cubicBezTo>
                    <a:pt x="0" y="25770"/>
                    <a:pt x="25770" y="0"/>
                    <a:pt x="57558" y="0"/>
                  </a:cubicBezTo>
                  <a:close/>
                </a:path>
              </a:pathLst>
            </a:custGeom>
            <a:solidFill>
              <a:srgbClr val="EDE0CA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66675"/>
              <a:ext cx="1664664" cy="1516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465239" y="6522768"/>
            <a:ext cx="10822761" cy="3125072"/>
          </a:xfrm>
          <a:custGeom>
            <a:avLst/>
            <a:gdLst/>
            <a:ahLst/>
            <a:cxnLst/>
            <a:rect l="l" t="t" r="r" b="b"/>
            <a:pathLst>
              <a:path w="10822761" h="3125072">
                <a:moveTo>
                  <a:pt x="0" y="0"/>
                </a:moveTo>
                <a:lnTo>
                  <a:pt x="10822761" y="0"/>
                </a:lnTo>
                <a:lnTo>
                  <a:pt x="10822761" y="3125073"/>
                </a:lnTo>
                <a:lnTo>
                  <a:pt x="0" y="3125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TextBox 7"/>
          <p:cNvSpPr txBox="1"/>
          <p:nvPr/>
        </p:nvSpPr>
        <p:spPr>
          <a:xfrm>
            <a:off x="417831" y="3044398"/>
            <a:ext cx="6734088" cy="5549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7705" lvl="1" indent="-253852" algn="l">
              <a:lnSpc>
                <a:spcPts val="2586"/>
              </a:lnSpc>
              <a:buFont typeface="Arial"/>
              <a:buChar char="•"/>
            </a:pPr>
            <a:r>
              <a:rPr lang="en-US" sz="2351" spc="-105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Training was performed for 15–40 epochs on a GPU with early stopping to prevent overfitting</a:t>
            </a:r>
          </a:p>
          <a:p>
            <a:pPr algn="l">
              <a:lnSpc>
                <a:spcPts val="2586"/>
              </a:lnSpc>
            </a:pPr>
            <a:endParaRPr lang="en-US" sz="2351" spc="-105">
              <a:solidFill>
                <a:srgbClr val="3B3B3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507705" lvl="1" indent="-253852" algn="l">
              <a:lnSpc>
                <a:spcPts val="2586"/>
              </a:lnSpc>
              <a:buFont typeface="Arial"/>
              <a:buChar char="•"/>
            </a:pPr>
            <a:r>
              <a:rPr lang="en-US" sz="2351" spc="-105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Training and validation accuracy were compared throughout to monitor model performance</a:t>
            </a:r>
          </a:p>
          <a:p>
            <a:pPr algn="l">
              <a:lnSpc>
                <a:spcPts val="2586"/>
              </a:lnSpc>
            </a:pPr>
            <a:endParaRPr lang="en-US" sz="2351" spc="-105">
              <a:solidFill>
                <a:srgbClr val="3B3B3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507705" lvl="1" indent="-253852" algn="l">
              <a:lnSpc>
                <a:spcPts val="2586"/>
              </a:lnSpc>
              <a:buFont typeface="Arial"/>
              <a:buChar char="•"/>
            </a:pPr>
            <a:r>
              <a:rPr lang="en-US" sz="2351" spc="-105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A fixed random seed ensured reproducible and deterministic results</a:t>
            </a:r>
          </a:p>
          <a:p>
            <a:pPr algn="l">
              <a:lnSpc>
                <a:spcPts val="2586"/>
              </a:lnSpc>
            </a:pPr>
            <a:endParaRPr lang="en-US" sz="2351" spc="-105">
              <a:solidFill>
                <a:srgbClr val="3B3B3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507705" lvl="1" indent="-253852" algn="l">
              <a:lnSpc>
                <a:spcPts val="2586"/>
              </a:lnSpc>
              <a:buFont typeface="Arial"/>
              <a:buChar char="•"/>
            </a:pPr>
            <a:r>
              <a:rPr lang="en-US" sz="2351" spc="-105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Loss and accuracy were recorded each epoch and visualized using matplotlib</a:t>
            </a:r>
          </a:p>
          <a:p>
            <a:pPr algn="l">
              <a:lnSpc>
                <a:spcPts val="2586"/>
              </a:lnSpc>
            </a:pPr>
            <a:endParaRPr lang="en-US" sz="2351" spc="-105">
              <a:solidFill>
                <a:srgbClr val="3B3B3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507705" lvl="1" indent="-253852" algn="l">
              <a:lnSpc>
                <a:spcPts val="2586"/>
              </a:lnSpc>
              <a:buFont typeface="Arial"/>
              <a:buChar char="•"/>
            </a:pPr>
            <a:r>
              <a:rPr lang="en-US" sz="2351" spc="-105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The learning curve stabilized once the scheduler adjusted the learning rate</a:t>
            </a:r>
          </a:p>
          <a:p>
            <a:pPr algn="l">
              <a:lnSpc>
                <a:spcPts val="2586"/>
              </a:lnSpc>
            </a:pPr>
            <a:endParaRPr lang="en-US" sz="2351" spc="-105">
              <a:solidFill>
                <a:srgbClr val="3B3B3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8" name="Group 8"/>
          <p:cNvGrpSpPr/>
          <p:nvPr/>
        </p:nvGrpSpPr>
        <p:grpSpPr>
          <a:xfrm rot="1193583">
            <a:off x="4251010" y="7668411"/>
            <a:ext cx="3060210" cy="2694508"/>
            <a:chOff x="0" y="0"/>
            <a:chExt cx="4080280" cy="3592678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4080280" cy="3592678"/>
              <a:chOff x="0" y="0"/>
              <a:chExt cx="805981" cy="70966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05981" cy="709665"/>
              </a:xfrm>
              <a:custGeom>
                <a:avLst/>
                <a:gdLst/>
                <a:ahLst/>
                <a:cxnLst/>
                <a:rect l="l" t="t" r="r" b="b"/>
                <a:pathLst>
                  <a:path w="805981" h="709665">
                    <a:moveTo>
                      <a:pt x="129023" y="0"/>
                    </a:moveTo>
                    <a:lnTo>
                      <a:pt x="676958" y="0"/>
                    </a:lnTo>
                    <a:cubicBezTo>
                      <a:pt x="748216" y="0"/>
                      <a:pt x="805981" y="57766"/>
                      <a:pt x="805981" y="129023"/>
                    </a:cubicBezTo>
                    <a:lnTo>
                      <a:pt x="805981" y="580642"/>
                    </a:lnTo>
                    <a:cubicBezTo>
                      <a:pt x="805981" y="651899"/>
                      <a:pt x="748216" y="709665"/>
                      <a:pt x="676958" y="709665"/>
                    </a:cubicBezTo>
                    <a:lnTo>
                      <a:pt x="129023" y="709665"/>
                    </a:lnTo>
                    <a:cubicBezTo>
                      <a:pt x="57766" y="709665"/>
                      <a:pt x="0" y="651899"/>
                      <a:pt x="0" y="580642"/>
                    </a:cubicBezTo>
                    <a:lnTo>
                      <a:pt x="0" y="129023"/>
                    </a:lnTo>
                    <a:cubicBezTo>
                      <a:pt x="0" y="57766"/>
                      <a:pt x="57766" y="0"/>
                      <a:pt x="129023" y="0"/>
                    </a:cubicBezTo>
                    <a:close/>
                  </a:path>
                </a:pathLst>
              </a:custGeom>
              <a:solidFill>
                <a:srgbClr val="A45910"/>
              </a:solidFill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85725"/>
                <a:ext cx="805981" cy="6239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42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157416" y="315730"/>
              <a:ext cx="3765449" cy="260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00"/>
                </a:lnSpc>
              </a:pPr>
              <a:r>
                <a:rPr lang="en-US" sz="2000" spc="-90">
                  <a:solidFill>
                    <a:srgbClr val="FFFFFF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The training remained stable and repeatable, and early stopping helped stop before the model started memorizing the training data.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7465239" y="2143236"/>
            <a:ext cx="10822761" cy="4261462"/>
          </a:xfrm>
          <a:custGeom>
            <a:avLst/>
            <a:gdLst/>
            <a:ahLst/>
            <a:cxnLst/>
            <a:rect l="l" t="t" r="r" b="b"/>
            <a:pathLst>
              <a:path w="10822761" h="4261462">
                <a:moveTo>
                  <a:pt x="0" y="0"/>
                </a:moveTo>
                <a:lnTo>
                  <a:pt x="10822761" y="0"/>
                </a:lnTo>
                <a:lnTo>
                  <a:pt x="10822761" y="4261462"/>
                </a:lnTo>
                <a:lnTo>
                  <a:pt x="0" y="42614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69099">
            <a:off x="8983075" y="43899"/>
            <a:ext cx="2829824" cy="2945183"/>
            <a:chOff x="0" y="0"/>
            <a:chExt cx="745303" cy="7756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5303" cy="775686"/>
            </a:xfrm>
            <a:custGeom>
              <a:avLst/>
              <a:gdLst/>
              <a:ahLst/>
              <a:cxnLst/>
              <a:rect l="l" t="t" r="r" b="b"/>
              <a:pathLst>
                <a:path w="745303" h="775686">
                  <a:moveTo>
                    <a:pt x="139527" y="0"/>
                  </a:moveTo>
                  <a:lnTo>
                    <a:pt x="605776" y="0"/>
                  </a:lnTo>
                  <a:cubicBezTo>
                    <a:pt x="642781" y="0"/>
                    <a:pt x="678270" y="14700"/>
                    <a:pt x="704437" y="40867"/>
                  </a:cubicBezTo>
                  <a:cubicBezTo>
                    <a:pt x="730603" y="67033"/>
                    <a:pt x="745303" y="102522"/>
                    <a:pt x="745303" y="139527"/>
                  </a:cubicBezTo>
                  <a:lnTo>
                    <a:pt x="745303" y="636159"/>
                  </a:lnTo>
                  <a:cubicBezTo>
                    <a:pt x="745303" y="713217"/>
                    <a:pt x="682835" y="775686"/>
                    <a:pt x="605776" y="775686"/>
                  </a:cubicBezTo>
                  <a:lnTo>
                    <a:pt x="139527" y="775686"/>
                  </a:lnTo>
                  <a:cubicBezTo>
                    <a:pt x="62469" y="775686"/>
                    <a:pt x="0" y="713217"/>
                    <a:pt x="0" y="636159"/>
                  </a:cubicBezTo>
                  <a:lnTo>
                    <a:pt x="0" y="139527"/>
                  </a:lnTo>
                  <a:cubicBezTo>
                    <a:pt x="0" y="62469"/>
                    <a:pt x="62469" y="0"/>
                    <a:pt x="139527" y="0"/>
                  </a:cubicBezTo>
                  <a:close/>
                </a:path>
              </a:pathLst>
            </a:custGeom>
            <a:solidFill>
              <a:srgbClr val="A4591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0"/>
              <a:ext cx="745303" cy="680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4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33335" y="2369139"/>
            <a:ext cx="9531234" cy="3507307"/>
            <a:chOff x="0" y="0"/>
            <a:chExt cx="2510284" cy="92373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10284" cy="923735"/>
            </a:xfrm>
            <a:custGeom>
              <a:avLst/>
              <a:gdLst/>
              <a:ahLst/>
              <a:cxnLst/>
              <a:rect l="l" t="t" r="r" b="b"/>
              <a:pathLst>
                <a:path w="2510284" h="923735">
                  <a:moveTo>
                    <a:pt x="41426" y="0"/>
                  </a:moveTo>
                  <a:lnTo>
                    <a:pt x="2468858" y="0"/>
                  </a:lnTo>
                  <a:cubicBezTo>
                    <a:pt x="2491737" y="0"/>
                    <a:pt x="2510284" y="18547"/>
                    <a:pt x="2510284" y="41426"/>
                  </a:cubicBezTo>
                  <a:lnTo>
                    <a:pt x="2510284" y="882310"/>
                  </a:lnTo>
                  <a:cubicBezTo>
                    <a:pt x="2510284" y="905188"/>
                    <a:pt x="2491737" y="923735"/>
                    <a:pt x="2468858" y="923735"/>
                  </a:cubicBezTo>
                  <a:lnTo>
                    <a:pt x="41426" y="923735"/>
                  </a:lnTo>
                  <a:cubicBezTo>
                    <a:pt x="18547" y="923735"/>
                    <a:pt x="0" y="905188"/>
                    <a:pt x="0" y="882310"/>
                  </a:cubicBezTo>
                  <a:lnTo>
                    <a:pt x="0" y="41426"/>
                  </a:lnTo>
                  <a:cubicBezTo>
                    <a:pt x="0" y="18547"/>
                    <a:pt x="18547" y="0"/>
                    <a:pt x="41426" y="0"/>
                  </a:cubicBezTo>
                  <a:close/>
                </a:path>
              </a:pathLst>
            </a:custGeom>
            <a:solidFill>
              <a:srgbClr val="EDE0CA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95250"/>
              <a:ext cx="2510284" cy="828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42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1463029" y="1926324"/>
            <a:ext cx="6664509" cy="6857938"/>
          </a:xfrm>
          <a:custGeom>
            <a:avLst/>
            <a:gdLst/>
            <a:ahLst/>
            <a:cxnLst/>
            <a:rect l="l" t="t" r="r" b="b"/>
            <a:pathLst>
              <a:path w="6664509" h="6857938">
                <a:moveTo>
                  <a:pt x="0" y="0"/>
                </a:moveTo>
                <a:lnTo>
                  <a:pt x="6664509" y="0"/>
                </a:lnTo>
                <a:lnTo>
                  <a:pt x="6664509" y="6857938"/>
                </a:lnTo>
                <a:lnTo>
                  <a:pt x="0" y="6857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9"/>
          <p:cNvSpPr/>
          <p:nvPr/>
        </p:nvSpPr>
        <p:spPr>
          <a:xfrm>
            <a:off x="772843" y="6140151"/>
            <a:ext cx="9452217" cy="3939154"/>
          </a:xfrm>
          <a:custGeom>
            <a:avLst/>
            <a:gdLst/>
            <a:ahLst/>
            <a:cxnLst/>
            <a:rect l="l" t="t" r="r" b="b"/>
            <a:pathLst>
              <a:path w="9452217" h="3939154">
                <a:moveTo>
                  <a:pt x="0" y="0"/>
                </a:moveTo>
                <a:lnTo>
                  <a:pt x="9452217" y="0"/>
                </a:lnTo>
                <a:lnTo>
                  <a:pt x="9452217" y="3939154"/>
                </a:lnTo>
                <a:lnTo>
                  <a:pt x="0" y="39391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7" b="-2993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TextBox 10"/>
          <p:cNvSpPr txBox="1"/>
          <p:nvPr/>
        </p:nvSpPr>
        <p:spPr>
          <a:xfrm>
            <a:off x="1028700" y="1063892"/>
            <a:ext cx="6302590" cy="1305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92"/>
              </a:lnSpc>
            </a:pPr>
            <a:r>
              <a:rPr lang="en-US" sz="11195" b="1" spc="-503">
                <a:solidFill>
                  <a:srgbClr val="3B3B3B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Results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691606"/>
            <a:ext cx="9235869" cy="3608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2419"/>
              </a:lnSpc>
              <a:buFont typeface="Arial"/>
              <a:buChar char="•"/>
            </a:pPr>
            <a:r>
              <a:rPr lang="en-US" sz="2199" spc="-98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Final test accuracy: ≈ 71 % </a:t>
            </a:r>
          </a:p>
          <a:p>
            <a:pPr algn="l">
              <a:lnSpc>
                <a:spcPts val="2419"/>
              </a:lnSpc>
            </a:pPr>
            <a:endParaRPr lang="en-US" sz="2199" spc="-98">
              <a:solidFill>
                <a:srgbClr val="3B3B3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74979" lvl="1" indent="-237490" algn="l">
              <a:lnSpc>
                <a:spcPts val="2419"/>
              </a:lnSpc>
              <a:buFont typeface="Arial"/>
              <a:buChar char="•"/>
            </a:pPr>
            <a:r>
              <a:rPr lang="en-US" sz="2199" spc="-98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Confusion matrix → mostly correct, few cat/dog mix-ups on low-light images</a:t>
            </a:r>
          </a:p>
          <a:p>
            <a:pPr algn="l">
              <a:lnSpc>
                <a:spcPts val="2419"/>
              </a:lnSpc>
            </a:pPr>
            <a:endParaRPr lang="en-US" sz="2199" spc="-98">
              <a:solidFill>
                <a:srgbClr val="3B3B3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74979" lvl="1" indent="-237490" algn="l">
              <a:lnSpc>
                <a:spcPts val="2419"/>
              </a:lnSpc>
              <a:buFont typeface="Arial"/>
              <a:buChar char="•"/>
            </a:pPr>
            <a:r>
              <a:rPr lang="en-US" sz="2199" spc="-98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The classification report indicates balanced precision and recall between both classes</a:t>
            </a:r>
          </a:p>
          <a:p>
            <a:pPr algn="l">
              <a:lnSpc>
                <a:spcPts val="2419"/>
              </a:lnSpc>
            </a:pPr>
            <a:endParaRPr lang="en-US" sz="2199" spc="-98">
              <a:solidFill>
                <a:srgbClr val="3B3B3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74979" lvl="1" indent="-237490" algn="l">
              <a:lnSpc>
                <a:spcPts val="2419"/>
              </a:lnSpc>
              <a:buFont typeface="Arial"/>
              <a:buChar char="•"/>
            </a:pPr>
            <a:r>
              <a:rPr lang="en-US" sz="2199" spc="-98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Example predictions show robust features like fur texture and snout shape</a:t>
            </a:r>
          </a:p>
          <a:p>
            <a:pPr algn="l">
              <a:lnSpc>
                <a:spcPts val="2200"/>
              </a:lnSpc>
            </a:pPr>
            <a:endParaRPr lang="en-US" sz="2199" spc="-98">
              <a:solidFill>
                <a:srgbClr val="3B3B3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l">
              <a:lnSpc>
                <a:spcPts val="2200"/>
              </a:lnSpc>
            </a:pPr>
            <a:endParaRPr lang="en-US" sz="2199" spc="-98">
              <a:solidFill>
                <a:srgbClr val="3B3B3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" name="TextBox 12"/>
          <p:cNvSpPr txBox="1"/>
          <p:nvPr/>
        </p:nvSpPr>
        <p:spPr>
          <a:xfrm rot="569099">
            <a:off x="9016779" y="462339"/>
            <a:ext cx="2760846" cy="1865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6"/>
              </a:lnSpc>
            </a:pPr>
            <a:r>
              <a:rPr lang="en-US" sz="1914" spc="-86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The model performs consistently across both categories, and the few mistakes mostly happen in images that are difficult even for humans to label.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69103" y="6743700"/>
            <a:ext cx="3696039" cy="2254584"/>
          </a:xfrm>
          <a:custGeom>
            <a:avLst/>
            <a:gdLst/>
            <a:ahLst/>
            <a:cxnLst/>
            <a:rect l="l" t="t" r="r" b="b"/>
            <a:pathLst>
              <a:path w="3696039" h="2254584">
                <a:moveTo>
                  <a:pt x="0" y="0"/>
                </a:moveTo>
                <a:lnTo>
                  <a:pt x="3696040" y="0"/>
                </a:lnTo>
                <a:lnTo>
                  <a:pt x="3696040" y="2254584"/>
                </a:lnTo>
                <a:lnTo>
                  <a:pt x="0" y="2254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 rot="-957117">
            <a:off x="1799688" y="7035578"/>
            <a:ext cx="540724" cy="585429"/>
          </a:xfrm>
          <a:custGeom>
            <a:avLst/>
            <a:gdLst/>
            <a:ahLst/>
            <a:cxnLst/>
            <a:rect l="l" t="t" r="r" b="b"/>
            <a:pathLst>
              <a:path w="540724" h="585429">
                <a:moveTo>
                  <a:pt x="0" y="0"/>
                </a:moveTo>
                <a:lnTo>
                  <a:pt x="540723" y="0"/>
                </a:lnTo>
                <a:lnTo>
                  <a:pt x="540723" y="585429"/>
                </a:lnTo>
                <a:lnTo>
                  <a:pt x="0" y="5854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/>
          <p:cNvSpPr/>
          <p:nvPr/>
        </p:nvSpPr>
        <p:spPr>
          <a:xfrm>
            <a:off x="322858" y="124634"/>
            <a:ext cx="13285332" cy="9133666"/>
          </a:xfrm>
          <a:custGeom>
            <a:avLst/>
            <a:gdLst/>
            <a:ahLst/>
            <a:cxnLst/>
            <a:rect l="l" t="t" r="r" b="b"/>
            <a:pathLst>
              <a:path w="13285332" h="9133666">
                <a:moveTo>
                  <a:pt x="0" y="0"/>
                </a:moveTo>
                <a:lnTo>
                  <a:pt x="13285332" y="0"/>
                </a:lnTo>
                <a:lnTo>
                  <a:pt x="13285332" y="9133666"/>
                </a:lnTo>
                <a:lnTo>
                  <a:pt x="0" y="91336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06475" y="0"/>
            <a:ext cx="14675050" cy="10089097"/>
          </a:xfrm>
          <a:custGeom>
            <a:avLst/>
            <a:gdLst/>
            <a:ahLst/>
            <a:cxnLst/>
            <a:rect l="l" t="t" r="r" b="b"/>
            <a:pathLst>
              <a:path w="14675050" h="10089097">
                <a:moveTo>
                  <a:pt x="0" y="0"/>
                </a:moveTo>
                <a:lnTo>
                  <a:pt x="14675050" y="0"/>
                </a:lnTo>
                <a:lnTo>
                  <a:pt x="14675050" y="10089097"/>
                </a:lnTo>
                <a:lnTo>
                  <a:pt x="0" y="100890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81000" y="4533900"/>
            <a:ext cx="3696039" cy="2254584"/>
          </a:xfrm>
          <a:custGeom>
            <a:avLst/>
            <a:gdLst/>
            <a:ahLst/>
            <a:cxnLst/>
            <a:rect l="l" t="t" r="r" b="b"/>
            <a:pathLst>
              <a:path w="3696039" h="2254584">
                <a:moveTo>
                  <a:pt x="0" y="0"/>
                </a:moveTo>
                <a:lnTo>
                  <a:pt x="3696039" y="0"/>
                </a:lnTo>
                <a:lnTo>
                  <a:pt x="3696039" y="2254584"/>
                </a:lnTo>
                <a:lnTo>
                  <a:pt x="0" y="2254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 rot="-957117">
            <a:off x="1799688" y="7035578"/>
            <a:ext cx="540724" cy="585429"/>
          </a:xfrm>
          <a:custGeom>
            <a:avLst/>
            <a:gdLst/>
            <a:ahLst/>
            <a:cxnLst/>
            <a:rect l="l" t="t" r="r" b="b"/>
            <a:pathLst>
              <a:path w="540724" h="585429">
                <a:moveTo>
                  <a:pt x="0" y="0"/>
                </a:moveTo>
                <a:lnTo>
                  <a:pt x="540723" y="0"/>
                </a:lnTo>
                <a:lnTo>
                  <a:pt x="540723" y="585429"/>
                </a:lnTo>
                <a:lnTo>
                  <a:pt x="0" y="5854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/>
          <p:cNvSpPr/>
          <p:nvPr/>
        </p:nvSpPr>
        <p:spPr>
          <a:xfrm>
            <a:off x="2716892" y="351654"/>
            <a:ext cx="13658253" cy="9390049"/>
          </a:xfrm>
          <a:custGeom>
            <a:avLst/>
            <a:gdLst/>
            <a:ahLst/>
            <a:cxnLst/>
            <a:rect l="l" t="t" r="r" b="b"/>
            <a:pathLst>
              <a:path w="13658253" h="9390049">
                <a:moveTo>
                  <a:pt x="0" y="0"/>
                </a:moveTo>
                <a:lnTo>
                  <a:pt x="13658252" y="0"/>
                </a:lnTo>
                <a:lnTo>
                  <a:pt x="13658252" y="9390049"/>
                </a:lnTo>
                <a:lnTo>
                  <a:pt x="0" y="93900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44513" y="112706"/>
            <a:ext cx="14798973" cy="10174294"/>
          </a:xfrm>
          <a:custGeom>
            <a:avLst/>
            <a:gdLst/>
            <a:ahLst/>
            <a:cxnLst/>
            <a:rect l="l" t="t" r="r" b="b"/>
            <a:pathLst>
              <a:path w="14798973" h="10174294">
                <a:moveTo>
                  <a:pt x="0" y="0"/>
                </a:moveTo>
                <a:lnTo>
                  <a:pt x="14798974" y="0"/>
                </a:lnTo>
                <a:lnTo>
                  <a:pt x="14798974" y="10174294"/>
                </a:lnTo>
                <a:lnTo>
                  <a:pt x="0" y="101742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84352" y="737378"/>
            <a:ext cx="10886600" cy="2681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15"/>
              </a:lnSpc>
            </a:pPr>
            <a:r>
              <a:rPr lang="en-US" sz="12067" b="1" spc="-543">
                <a:solidFill>
                  <a:srgbClr val="3B3B3B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Challenges &amp; Fixes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3842422" y="1496093"/>
            <a:ext cx="3416878" cy="1294284"/>
            <a:chOff x="0" y="0"/>
            <a:chExt cx="899918" cy="34088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9918" cy="340881"/>
            </a:xfrm>
            <a:custGeom>
              <a:avLst/>
              <a:gdLst/>
              <a:ahLst/>
              <a:cxnLst/>
              <a:rect l="l" t="t" r="r" b="b"/>
              <a:pathLst>
                <a:path w="899918" h="340881">
                  <a:moveTo>
                    <a:pt x="115555" y="0"/>
                  </a:moveTo>
                  <a:lnTo>
                    <a:pt x="784363" y="0"/>
                  </a:lnTo>
                  <a:cubicBezTo>
                    <a:pt x="848183" y="0"/>
                    <a:pt x="899918" y="51736"/>
                    <a:pt x="899918" y="115555"/>
                  </a:cubicBezTo>
                  <a:lnTo>
                    <a:pt x="899918" y="225326"/>
                  </a:lnTo>
                  <a:cubicBezTo>
                    <a:pt x="899918" y="255973"/>
                    <a:pt x="887744" y="285365"/>
                    <a:pt x="866073" y="307036"/>
                  </a:cubicBezTo>
                  <a:cubicBezTo>
                    <a:pt x="844402" y="328707"/>
                    <a:pt x="815010" y="340881"/>
                    <a:pt x="784363" y="340881"/>
                  </a:cubicBezTo>
                  <a:lnTo>
                    <a:pt x="115555" y="340881"/>
                  </a:lnTo>
                  <a:cubicBezTo>
                    <a:pt x="84908" y="340881"/>
                    <a:pt x="55516" y="328707"/>
                    <a:pt x="33845" y="307036"/>
                  </a:cubicBezTo>
                  <a:cubicBezTo>
                    <a:pt x="12175" y="285365"/>
                    <a:pt x="0" y="255973"/>
                    <a:pt x="0" y="225326"/>
                  </a:cubicBezTo>
                  <a:lnTo>
                    <a:pt x="0" y="115555"/>
                  </a:lnTo>
                  <a:cubicBezTo>
                    <a:pt x="0" y="84908"/>
                    <a:pt x="12175" y="55516"/>
                    <a:pt x="33845" y="33845"/>
                  </a:cubicBezTo>
                  <a:cubicBezTo>
                    <a:pt x="55516" y="12175"/>
                    <a:pt x="84908" y="0"/>
                    <a:pt x="115555" y="0"/>
                  </a:cubicBezTo>
                  <a:close/>
                </a:path>
              </a:pathLst>
            </a:custGeom>
            <a:solidFill>
              <a:srgbClr val="EDE0CA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5250"/>
              <a:ext cx="899918" cy="2456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42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36455" y="4104661"/>
            <a:ext cx="9936700" cy="4855214"/>
            <a:chOff x="0" y="0"/>
            <a:chExt cx="2617073" cy="127873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17073" cy="1278739"/>
            </a:xfrm>
            <a:custGeom>
              <a:avLst/>
              <a:gdLst/>
              <a:ahLst/>
              <a:cxnLst/>
              <a:rect l="l" t="t" r="r" b="b"/>
              <a:pathLst>
                <a:path w="2617073" h="1278739">
                  <a:moveTo>
                    <a:pt x="39735" y="0"/>
                  </a:moveTo>
                  <a:lnTo>
                    <a:pt x="2577338" y="0"/>
                  </a:lnTo>
                  <a:cubicBezTo>
                    <a:pt x="2587877" y="0"/>
                    <a:pt x="2597983" y="4186"/>
                    <a:pt x="2605435" y="11638"/>
                  </a:cubicBezTo>
                  <a:cubicBezTo>
                    <a:pt x="2612887" y="19090"/>
                    <a:pt x="2617073" y="29197"/>
                    <a:pt x="2617073" y="39735"/>
                  </a:cubicBezTo>
                  <a:lnTo>
                    <a:pt x="2617073" y="1239004"/>
                  </a:lnTo>
                  <a:cubicBezTo>
                    <a:pt x="2617073" y="1249543"/>
                    <a:pt x="2612887" y="1259649"/>
                    <a:pt x="2605435" y="1267101"/>
                  </a:cubicBezTo>
                  <a:cubicBezTo>
                    <a:pt x="2597983" y="1274553"/>
                    <a:pt x="2587877" y="1278739"/>
                    <a:pt x="2577338" y="1278739"/>
                  </a:cubicBezTo>
                  <a:lnTo>
                    <a:pt x="39735" y="1278739"/>
                  </a:lnTo>
                  <a:cubicBezTo>
                    <a:pt x="29197" y="1278739"/>
                    <a:pt x="19090" y="1274553"/>
                    <a:pt x="11638" y="1267101"/>
                  </a:cubicBezTo>
                  <a:cubicBezTo>
                    <a:pt x="4186" y="1259649"/>
                    <a:pt x="0" y="1249543"/>
                    <a:pt x="0" y="1239004"/>
                  </a:cubicBezTo>
                  <a:lnTo>
                    <a:pt x="0" y="39735"/>
                  </a:lnTo>
                  <a:cubicBezTo>
                    <a:pt x="0" y="29197"/>
                    <a:pt x="4186" y="19090"/>
                    <a:pt x="11638" y="11638"/>
                  </a:cubicBezTo>
                  <a:cubicBezTo>
                    <a:pt x="19090" y="4186"/>
                    <a:pt x="29197" y="0"/>
                    <a:pt x="39735" y="0"/>
                  </a:cubicBezTo>
                  <a:close/>
                </a:path>
              </a:pathLst>
            </a:custGeom>
            <a:solidFill>
              <a:srgbClr val="EDE0CA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95250"/>
              <a:ext cx="2617073" cy="11834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42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79243" y="4313400"/>
            <a:ext cx="9227674" cy="4580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2419"/>
              </a:lnSpc>
              <a:buFont typeface="Arial"/>
              <a:buChar char="•"/>
            </a:pPr>
            <a:r>
              <a:rPr lang="en-US" sz="2199" spc="-98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Overfitting occurred due to a small validation set → mitigated through stronger data augmentation and dropout (0.3)</a:t>
            </a:r>
          </a:p>
          <a:p>
            <a:pPr algn="l">
              <a:lnSpc>
                <a:spcPts val="2419"/>
              </a:lnSpc>
            </a:pPr>
            <a:endParaRPr lang="en-US" sz="2199" spc="-98">
              <a:solidFill>
                <a:srgbClr val="3B3B3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74979" lvl="1" indent="-237490" algn="l">
              <a:lnSpc>
                <a:spcPts val="2419"/>
              </a:lnSpc>
              <a:buFont typeface="Arial"/>
              <a:buChar char="•"/>
            </a:pPr>
            <a:r>
              <a:rPr lang="en-US" sz="2199" spc="-98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Learning rate instability was resolved by using ReduceLROnPlateau, triggered by validation loss</a:t>
            </a:r>
          </a:p>
          <a:p>
            <a:pPr algn="l">
              <a:lnSpc>
                <a:spcPts val="2419"/>
              </a:lnSpc>
            </a:pPr>
            <a:endParaRPr lang="en-US" sz="2199" spc="-98">
              <a:solidFill>
                <a:srgbClr val="3B3B3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74979" lvl="1" indent="-237490" algn="l">
              <a:lnSpc>
                <a:spcPts val="2419"/>
              </a:lnSpc>
              <a:buFont typeface="Arial"/>
              <a:buChar char="•"/>
            </a:pPr>
            <a:r>
              <a:rPr lang="en-US" sz="2199" spc="-98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Inconsistent image resolutions were standardized by resizing all inputs to 224×224 pixels</a:t>
            </a:r>
          </a:p>
          <a:p>
            <a:pPr algn="l">
              <a:lnSpc>
                <a:spcPts val="2419"/>
              </a:lnSpc>
            </a:pPr>
            <a:endParaRPr lang="en-US" sz="2199" spc="-98">
              <a:solidFill>
                <a:srgbClr val="3B3B3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74979" lvl="1" indent="-237490" algn="l">
              <a:lnSpc>
                <a:spcPts val="2419"/>
              </a:lnSpc>
              <a:buFont typeface="Arial"/>
              <a:buChar char="•"/>
            </a:pPr>
            <a:r>
              <a:rPr lang="en-US" sz="2199" spc="-98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Memory usage was optimized with pin_memory=True and multiple data loader workers</a:t>
            </a:r>
          </a:p>
          <a:p>
            <a:pPr algn="l">
              <a:lnSpc>
                <a:spcPts val="2419"/>
              </a:lnSpc>
            </a:pPr>
            <a:endParaRPr lang="en-US" sz="2199" spc="-98">
              <a:solidFill>
                <a:srgbClr val="3B3B3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74979" lvl="1" indent="-237490" algn="l">
              <a:lnSpc>
                <a:spcPts val="2419"/>
              </a:lnSpc>
              <a:buFont typeface="Arial"/>
              <a:buChar char="•"/>
            </a:pPr>
            <a:r>
              <a:rPr lang="en-US" sz="2199" spc="-98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Reproducibility was ensured by setting fixed random seeds and maintaining a consistent folder structure</a:t>
            </a:r>
          </a:p>
          <a:p>
            <a:pPr algn="l">
              <a:lnSpc>
                <a:spcPts val="2419"/>
              </a:lnSpc>
            </a:pPr>
            <a:endParaRPr lang="en-US" sz="2199" spc="-98">
              <a:solidFill>
                <a:srgbClr val="3B3B3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995635" y="3048163"/>
            <a:ext cx="2122860" cy="2501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spc="-90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Most issues were related to stability and consistency — once the data and learning rate were under control, the model performed much more reliably.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2686129" y="6345881"/>
            <a:ext cx="2864732" cy="1294284"/>
            <a:chOff x="0" y="0"/>
            <a:chExt cx="754497" cy="34088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54497" cy="340881"/>
            </a:xfrm>
            <a:custGeom>
              <a:avLst/>
              <a:gdLst/>
              <a:ahLst/>
              <a:cxnLst/>
              <a:rect l="l" t="t" r="r" b="b"/>
              <a:pathLst>
                <a:path w="754497" h="340881">
                  <a:moveTo>
                    <a:pt x="137827" y="0"/>
                  </a:moveTo>
                  <a:lnTo>
                    <a:pt x="616670" y="0"/>
                  </a:lnTo>
                  <a:cubicBezTo>
                    <a:pt x="692790" y="0"/>
                    <a:pt x="754497" y="61707"/>
                    <a:pt x="754497" y="137827"/>
                  </a:cubicBezTo>
                  <a:lnTo>
                    <a:pt x="754497" y="203054"/>
                  </a:lnTo>
                  <a:cubicBezTo>
                    <a:pt x="754497" y="239608"/>
                    <a:pt x="739976" y="274665"/>
                    <a:pt x="714129" y="300513"/>
                  </a:cubicBezTo>
                  <a:cubicBezTo>
                    <a:pt x="688281" y="326360"/>
                    <a:pt x="653224" y="340881"/>
                    <a:pt x="616670" y="340881"/>
                  </a:cubicBezTo>
                  <a:lnTo>
                    <a:pt x="137827" y="340881"/>
                  </a:lnTo>
                  <a:cubicBezTo>
                    <a:pt x="61707" y="340881"/>
                    <a:pt x="0" y="279174"/>
                    <a:pt x="0" y="203054"/>
                  </a:cubicBezTo>
                  <a:lnTo>
                    <a:pt x="0" y="137827"/>
                  </a:lnTo>
                  <a:cubicBezTo>
                    <a:pt x="0" y="61707"/>
                    <a:pt x="61707" y="0"/>
                    <a:pt x="137827" y="0"/>
                  </a:cubicBezTo>
                  <a:close/>
                </a:path>
              </a:pathLst>
            </a:custGeom>
            <a:solidFill>
              <a:srgbClr val="A45910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95250"/>
              <a:ext cx="754497" cy="2456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42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057065" y="6713623"/>
            <a:ext cx="2122860" cy="56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spc="-90">
                <a:solidFill>
                  <a:srgbClr val="FFF6E7"/>
                </a:solidFill>
                <a:latin typeface="Merriweather"/>
                <a:ea typeface="Merriweather"/>
                <a:cs typeface="Merriweather"/>
                <a:sym typeface="Merriweather"/>
              </a:rPr>
              <a:t>Affordable prices for every budget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3842422" y="7964016"/>
            <a:ext cx="2851736" cy="1294284"/>
            <a:chOff x="0" y="0"/>
            <a:chExt cx="751075" cy="34088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51075" cy="340881"/>
            </a:xfrm>
            <a:custGeom>
              <a:avLst/>
              <a:gdLst/>
              <a:ahLst/>
              <a:cxnLst/>
              <a:rect l="l" t="t" r="r" b="b"/>
              <a:pathLst>
                <a:path w="751075" h="340881">
                  <a:moveTo>
                    <a:pt x="138455" y="0"/>
                  </a:moveTo>
                  <a:lnTo>
                    <a:pt x="612619" y="0"/>
                  </a:lnTo>
                  <a:cubicBezTo>
                    <a:pt x="649340" y="0"/>
                    <a:pt x="684556" y="14587"/>
                    <a:pt x="710522" y="40553"/>
                  </a:cubicBezTo>
                  <a:cubicBezTo>
                    <a:pt x="736487" y="66518"/>
                    <a:pt x="751075" y="101735"/>
                    <a:pt x="751075" y="138455"/>
                  </a:cubicBezTo>
                  <a:lnTo>
                    <a:pt x="751075" y="202426"/>
                  </a:lnTo>
                  <a:cubicBezTo>
                    <a:pt x="751075" y="239147"/>
                    <a:pt x="736487" y="274363"/>
                    <a:pt x="710522" y="300329"/>
                  </a:cubicBezTo>
                  <a:cubicBezTo>
                    <a:pt x="684556" y="326294"/>
                    <a:pt x="649340" y="340881"/>
                    <a:pt x="612619" y="340881"/>
                  </a:cubicBezTo>
                  <a:lnTo>
                    <a:pt x="138455" y="340881"/>
                  </a:lnTo>
                  <a:cubicBezTo>
                    <a:pt x="101735" y="340881"/>
                    <a:pt x="66518" y="326294"/>
                    <a:pt x="40553" y="300329"/>
                  </a:cubicBezTo>
                  <a:cubicBezTo>
                    <a:pt x="14587" y="274363"/>
                    <a:pt x="0" y="239147"/>
                    <a:pt x="0" y="202426"/>
                  </a:cubicBezTo>
                  <a:lnTo>
                    <a:pt x="0" y="138455"/>
                  </a:lnTo>
                  <a:cubicBezTo>
                    <a:pt x="0" y="101735"/>
                    <a:pt x="14587" y="66518"/>
                    <a:pt x="40553" y="40553"/>
                  </a:cubicBezTo>
                  <a:cubicBezTo>
                    <a:pt x="66518" y="14587"/>
                    <a:pt x="101735" y="0"/>
                    <a:pt x="138455" y="0"/>
                  </a:cubicBezTo>
                  <a:close/>
                </a:path>
              </a:pathLst>
            </a:custGeom>
            <a:solidFill>
              <a:srgbClr val="EDE0CA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95250"/>
              <a:ext cx="751075" cy="2456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42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206860" y="8325966"/>
            <a:ext cx="2122860" cy="56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spc="-90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We treat your pets like our own!</a:t>
            </a:r>
          </a:p>
        </p:txBody>
      </p:sp>
      <p:sp>
        <p:nvSpPr>
          <p:cNvPr id="19" name="Freeform 19"/>
          <p:cNvSpPr/>
          <p:nvPr/>
        </p:nvSpPr>
        <p:spPr>
          <a:xfrm rot="-653206">
            <a:off x="15794987" y="5108898"/>
            <a:ext cx="782215" cy="846887"/>
          </a:xfrm>
          <a:custGeom>
            <a:avLst/>
            <a:gdLst/>
            <a:ahLst/>
            <a:cxnLst/>
            <a:rect l="l" t="t" r="r" b="b"/>
            <a:pathLst>
              <a:path w="782215" h="846887">
                <a:moveTo>
                  <a:pt x="0" y="0"/>
                </a:moveTo>
                <a:lnTo>
                  <a:pt x="782216" y="0"/>
                </a:lnTo>
                <a:lnTo>
                  <a:pt x="782216" y="846886"/>
                </a:lnTo>
                <a:lnTo>
                  <a:pt x="0" y="846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0" name="Freeform 20"/>
          <p:cNvSpPr/>
          <p:nvPr/>
        </p:nvSpPr>
        <p:spPr>
          <a:xfrm rot="1717038">
            <a:off x="2032889" y="9352727"/>
            <a:ext cx="544729" cy="589765"/>
          </a:xfrm>
          <a:custGeom>
            <a:avLst/>
            <a:gdLst/>
            <a:ahLst/>
            <a:cxnLst/>
            <a:rect l="l" t="t" r="r" b="b"/>
            <a:pathLst>
              <a:path w="544729" h="589765">
                <a:moveTo>
                  <a:pt x="0" y="0"/>
                </a:moveTo>
                <a:lnTo>
                  <a:pt x="544728" y="0"/>
                </a:lnTo>
                <a:lnTo>
                  <a:pt x="544728" y="589766"/>
                </a:lnTo>
                <a:lnTo>
                  <a:pt x="0" y="589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780433" y="5856768"/>
            <a:ext cx="2478867" cy="3401532"/>
          </a:xfrm>
          <a:custGeom>
            <a:avLst/>
            <a:gdLst/>
            <a:ahLst/>
            <a:cxnLst/>
            <a:rect l="l" t="t" r="r" b="b"/>
            <a:pathLst>
              <a:path w="2478867" h="3401532">
                <a:moveTo>
                  <a:pt x="0" y="0"/>
                </a:moveTo>
                <a:lnTo>
                  <a:pt x="2478867" y="0"/>
                </a:lnTo>
                <a:lnTo>
                  <a:pt x="2478867" y="3401532"/>
                </a:lnTo>
                <a:lnTo>
                  <a:pt x="0" y="34015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>
            <a:off x="1028700" y="5593854"/>
            <a:ext cx="2514726" cy="3664446"/>
          </a:xfrm>
          <a:custGeom>
            <a:avLst/>
            <a:gdLst/>
            <a:ahLst/>
            <a:cxnLst/>
            <a:rect l="l" t="t" r="r" b="b"/>
            <a:pathLst>
              <a:path w="2514726" h="3664446">
                <a:moveTo>
                  <a:pt x="0" y="0"/>
                </a:moveTo>
                <a:lnTo>
                  <a:pt x="2514726" y="0"/>
                </a:lnTo>
                <a:lnTo>
                  <a:pt x="2514726" y="3664446"/>
                </a:lnTo>
                <a:lnTo>
                  <a:pt x="0" y="36644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/>
          <p:cNvSpPr/>
          <p:nvPr/>
        </p:nvSpPr>
        <p:spPr>
          <a:xfrm rot="-1098438">
            <a:off x="1547814" y="3274191"/>
            <a:ext cx="1243019" cy="1172958"/>
          </a:xfrm>
          <a:custGeom>
            <a:avLst/>
            <a:gdLst/>
            <a:ahLst/>
            <a:cxnLst/>
            <a:rect l="l" t="t" r="r" b="b"/>
            <a:pathLst>
              <a:path w="1243019" h="1172958">
                <a:moveTo>
                  <a:pt x="0" y="0"/>
                </a:moveTo>
                <a:lnTo>
                  <a:pt x="1243019" y="0"/>
                </a:lnTo>
                <a:lnTo>
                  <a:pt x="1243019" y="1172958"/>
                </a:lnTo>
                <a:lnTo>
                  <a:pt x="0" y="1172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 rot="1017526">
            <a:off x="15488443" y="3743193"/>
            <a:ext cx="1243019" cy="1172958"/>
          </a:xfrm>
          <a:custGeom>
            <a:avLst/>
            <a:gdLst/>
            <a:ahLst/>
            <a:cxnLst/>
            <a:rect l="l" t="t" r="r" b="b"/>
            <a:pathLst>
              <a:path w="1243019" h="1172958">
                <a:moveTo>
                  <a:pt x="0" y="0"/>
                </a:moveTo>
                <a:lnTo>
                  <a:pt x="1243019" y="0"/>
                </a:lnTo>
                <a:lnTo>
                  <a:pt x="1243019" y="1172958"/>
                </a:lnTo>
                <a:lnTo>
                  <a:pt x="0" y="1172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/>
          <p:cNvSpPr/>
          <p:nvPr/>
        </p:nvSpPr>
        <p:spPr>
          <a:xfrm rot="-589327">
            <a:off x="8563515" y="8145596"/>
            <a:ext cx="1764983" cy="593676"/>
          </a:xfrm>
          <a:custGeom>
            <a:avLst/>
            <a:gdLst/>
            <a:ahLst/>
            <a:cxnLst/>
            <a:rect l="l" t="t" r="r" b="b"/>
            <a:pathLst>
              <a:path w="1764983" h="593676">
                <a:moveTo>
                  <a:pt x="0" y="0"/>
                </a:moveTo>
                <a:lnTo>
                  <a:pt x="1764982" y="0"/>
                </a:lnTo>
                <a:lnTo>
                  <a:pt x="1764982" y="593676"/>
                </a:lnTo>
                <a:lnTo>
                  <a:pt x="0" y="5936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/>
          <p:cNvSpPr/>
          <p:nvPr/>
        </p:nvSpPr>
        <p:spPr>
          <a:xfrm rot="-653206">
            <a:off x="5943834" y="8261199"/>
            <a:ext cx="782215" cy="846887"/>
          </a:xfrm>
          <a:custGeom>
            <a:avLst/>
            <a:gdLst/>
            <a:ahLst/>
            <a:cxnLst/>
            <a:rect l="l" t="t" r="r" b="b"/>
            <a:pathLst>
              <a:path w="782215" h="846887">
                <a:moveTo>
                  <a:pt x="0" y="0"/>
                </a:moveTo>
                <a:lnTo>
                  <a:pt x="782216" y="0"/>
                </a:lnTo>
                <a:lnTo>
                  <a:pt x="782216" y="846887"/>
                </a:lnTo>
                <a:lnTo>
                  <a:pt x="0" y="8468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8"/>
          <p:cNvSpPr/>
          <p:nvPr/>
        </p:nvSpPr>
        <p:spPr>
          <a:xfrm rot="1789201">
            <a:off x="11697505" y="8204349"/>
            <a:ext cx="540724" cy="585429"/>
          </a:xfrm>
          <a:custGeom>
            <a:avLst/>
            <a:gdLst/>
            <a:ahLst/>
            <a:cxnLst/>
            <a:rect l="l" t="t" r="r" b="b"/>
            <a:pathLst>
              <a:path w="540724" h="585429">
                <a:moveTo>
                  <a:pt x="0" y="0"/>
                </a:moveTo>
                <a:lnTo>
                  <a:pt x="540724" y="0"/>
                </a:lnTo>
                <a:lnTo>
                  <a:pt x="540724" y="585429"/>
                </a:lnTo>
                <a:lnTo>
                  <a:pt x="0" y="5854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TextBox 9"/>
          <p:cNvSpPr txBox="1"/>
          <p:nvPr/>
        </p:nvSpPr>
        <p:spPr>
          <a:xfrm>
            <a:off x="1953379" y="1155223"/>
            <a:ext cx="14381243" cy="2225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56"/>
              </a:lnSpc>
            </a:pPr>
            <a:r>
              <a:rPr lang="en-US" sz="10067" b="1" spc="-453">
                <a:solidFill>
                  <a:srgbClr val="3B3B3B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Real-World Applications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01864" y="4162549"/>
            <a:ext cx="9021574" cy="2407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8794" lvl="1" indent="-234397" algn="l">
              <a:lnSpc>
                <a:spcPts val="2388"/>
              </a:lnSpc>
              <a:buFont typeface="Arial"/>
              <a:buChar char="•"/>
            </a:pPr>
            <a:r>
              <a:rPr lang="en-US" sz="2171" spc="-97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Same principles power pet-recognition apps and animal monitoring systems</a:t>
            </a:r>
          </a:p>
          <a:p>
            <a:pPr marL="468794" lvl="1" indent="-234397" algn="l">
              <a:lnSpc>
                <a:spcPts val="2388"/>
              </a:lnSpc>
              <a:buFont typeface="Arial"/>
              <a:buChar char="•"/>
            </a:pPr>
            <a:r>
              <a:rPr lang="en-US" sz="2171" spc="-97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Shows how CNNs extract meaning from raw pixels → useful in medicine, security, or retail</a:t>
            </a:r>
          </a:p>
          <a:p>
            <a:pPr marL="468794" lvl="1" indent="-234397" algn="l">
              <a:lnSpc>
                <a:spcPts val="2388"/>
              </a:lnSpc>
              <a:buFont typeface="Arial"/>
              <a:buChar char="•"/>
            </a:pPr>
            <a:r>
              <a:rPr lang="en-US" sz="2171" spc="-97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Model can run on low-end devices due to its small size</a:t>
            </a:r>
          </a:p>
          <a:p>
            <a:pPr marL="468794" lvl="1" indent="-234397" algn="l">
              <a:lnSpc>
                <a:spcPts val="2388"/>
              </a:lnSpc>
              <a:buFont typeface="Arial"/>
              <a:buChar char="•"/>
            </a:pPr>
            <a:r>
              <a:rPr lang="en-US" sz="2171" spc="-97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Demonstrates importance of balanced datasets and data quality</a:t>
            </a:r>
          </a:p>
          <a:p>
            <a:pPr marL="468794" lvl="1" indent="-234397" algn="l">
              <a:lnSpc>
                <a:spcPts val="2388"/>
              </a:lnSpc>
              <a:buFont typeface="Arial"/>
              <a:buChar char="•"/>
            </a:pPr>
            <a:r>
              <a:rPr lang="en-US" sz="2171" spc="-97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Foundation for transfer learning on other image tasks</a:t>
            </a:r>
          </a:p>
          <a:p>
            <a:pPr algn="ctr">
              <a:lnSpc>
                <a:spcPts val="2388"/>
              </a:lnSpc>
            </a:pPr>
            <a:endParaRPr lang="en-US" sz="2171" spc="-97">
              <a:solidFill>
                <a:srgbClr val="3B3B3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05895" y="5044916"/>
            <a:ext cx="4338105" cy="4213384"/>
          </a:xfrm>
          <a:custGeom>
            <a:avLst/>
            <a:gdLst/>
            <a:ahLst/>
            <a:cxnLst/>
            <a:rect l="l" t="t" r="r" b="b"/>
            <a:pathLst>
              <a:path w="4338105" h="4213384">
                <a:moveTo>
                  <a:pt x="0" y="0"/>
                </a:moveTo>
                <a:lnTo>
                  <a:pt x="4338105" y="0"/>
                </a:lnTo>
                <a:lnTo>
                  <a:pt x="4338105" y="4213384"/>
                </a:lnTo>
                <a:lnTo>
                  <a:pt x="0" y="4213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grpSp>
        <p:nvGrpSpPr>
          <p:cNvPr id="3" name="Group 3"/>
          <p:cNvGrpSpPr/>
          <p:nvPr/>
        </p:nvGrpSpPr>
        <p:grpSpPr>
          <a:xfrm>
            <a:off x="9816690" y="6246054"/>
            <a:ext cx="2586495" cy="658525"/>
            <a:chOff x="0" y="0"/>
            <a:chExt cx="738807" cy="18810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38807" cy="188101"/>
            </a:xfrm>
            <a:custGeom>
              <a:avLst/>
              <a:gdLst/>
              <a:ahLst/>
              <a:cxnLst/>
              <a:rect l="l" t="t" r="r" b="b"/>
              <a:pathLst>
                <a:path w="738807" h="188101">
                  <a:moveTo>
                    <a:pt x="94051" y="0"/>
                  </a:moveTo>
                  <a:lnTo>
                    <a:pt x="644757" y="0"/>
                  </a:lnTo>
                  <a:cubicBezTo>
                    <a:pt x="696699" y="0"/>
                    <a:pt x="738807" y="42108"/>
                    <a:pt x="738807" y="94051"/>
                  </a:cubicBezTo>
                  <a:lnTo>
                    <a:pt x="738807" y="94051"/>
                  </a:lnTo>
                  <a:cubicBezTo>
                    <a:pt x="738807" y="118994"/>
                    <a:pt x="728898" y="142917"/>
                    <a:pt x="711260" y="160554"/>
                  </a:cubicBezTo>
                  <a:cubicBezTo>
                    <a:pt x="693622" y="178192"/>
                    <a:pt x="669700" y="188101"/>
                    <a:pt x="644757" y="188101"/>
                  </a:cubicBezTo>
                  <a:lnTo>
                    <a:pt x="94051" y="188101"/>
                  </a:lnTo>
                  <a:cubicBezTo>
                    <a:pt x="69107" y="188101"/>
                    <a:pt x="45185" y="178192"/>
                    <a:pt x="27547" y="160554"/>
                  </a:cubicBezTo>
                  <a:cubicBezTo>
                    <a:pt x="9909" y="142917"/>
                    <a:pt x="0" y="118994"/>
                    <a:pt x="0" y="94051"/>
                  </a:cubicBezTo>
                  <a:lnTo>
                    <a:pt x="0" y="94051"/>
                  </a:lnTo>
                  <a:cubicBezTo>
                    <a:pt x="0" y="69107"/>
                    <a:pt x="9909" y="45185"/>
                    <a:pt x="27547" y="27547"/>
                  </a:cubicBezTo>
                  <a:cubicBezTo>
                    <a:pt x="45185" y="9909"/>
                    <a:pt x="69107" y="0"/>
                    <a:pt x="94051" y="0"/>
                  </a:cubicBezTo>
                  <a:close/>
                </a:path>
              </a:pathLst>
            </a:custGeom>
            <a:solidFill>
              <a:srgbClr val="EDE0CA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738807" cy="130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9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807386" y="7092226"/>
            <a:ext cx="3572335" cy="658525"/>
            <a:chOff x="0" y="0"/>
            <a:chExt cx="1020403" cy="1881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20403" cy="188101"/>
            </a:xfrm>
            <a:custGeom>
              <a:avLst/>
              <a:gdLst/>
              <a:ahLst/>
              <a:cxnLst/>
              <a:rect l="l" t="t" r="r" b="b"/>
              <a:pathLst>
                <a:path w="1020403" h="188101">
                  <a:moveTo>
                    <a:pt x="94051" y="0"/>
                  </a:moveTo>
                  <a:lnTo>
                    <a:pt x="926352" y="0"/>
                  </a:lnTo>
                  <a:cubicBezTo>
                    <a:pt x="951296" y="0"/>
                    <a:pt x="975218" y="9909"/>
                    <a:pt x="992856" y="27547"/>
                  </a:cubicBezTo>
                  <a:cubicBezTo>
                    <a:pt x="1010494" y="45185"/>
                    <a:pt x="1020403" y="69107"/>
                    <a:pt x="1020403" y="94051"/>
                  </a:cubicBezTo>
                  <a:lnTo>
                    <a:pt x="1020403" y="94051"/>
                  </a:lnTo>
                  <a:cubicBezTo>
                    <a:pt x="1020403" y="145993"/>
                    <a:pt x="978295" y="188101"/>
                    <a:pt x="926352" y="188101"/>
                  </a:cubicBezTo>
                  <a:lnTo>
                    <a:pt x="94051" y="188101"/>
                  </a:lnTo>
                  <a:cubicBezTo>
                    <a:pt x="69107" y="188101"/>
                    <a:pt x="45185" y="178192"/>
                    <a:pt x="27547" y="160554"/>
                  </a:cubicBezTo>
                  <a:cubicBezTo>
                    <a:pt x="9909" y="142917"/>
                    <a:pt x="0" y="118994"/>
                    <a:pt x="0" y="94051"/>
                  </a:cubicBezTo>
                  <a:lnTo>
                    <a:pt x="0" y="94051"/>
                  </a:lnTo>
                  <a:cubicBezTo>
                    <a:pt x="0" y="69107"/>
                    <a:pt x="9909" y="45185"/>
                    <a:pt x="27547" y="27547"/>
                  </a:cubicBezTo>
                  <a:cubicBezTo>
                    <a:pt x="45185" y="9909"/>
                    <a:pt x="69107" y="0"/>
                    <a:pt x="94051" y="0"/>
                  </a:cubicBezTo>
                  <a:close/>
                </a:path>
              </a:pathLst>
            </a:custGeom>
            <a:solidFill>
              <a:srgbClr val="EDE0CA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57150"/>
              <a:ext cx="1020403" cy="130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9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934061" y="7941250"/>
            <a:ext cx="2445660" cy="658525"/>
            <a:chOff x="0" y="0"/>
            <a:chExt cx="698579" cy="18810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98579" cy="188101"/>
            </a:xfrm>
            <a:custGeom>
              <a:avLst/>
              <a:gdLst/>
              <a:ahLst/>
              <a:cxnLst/>
              <a:rect l="l" t="t" r="r" b="b"/>
              <a:pathLst>
                <a:path w="698579" h="188101">
                  <a:moveTo>
                    <a:pt x="94051" y="0"/>
                  </a:moveTo>
                  <a:lnTo>
                    <a:pt x="604529" y="0"/>
                  </a:lnTo>
                  <a:cubicBezTo>
                    <a:pt x="629472" y="0"/>
                    <a:pt x="653395" y="9909"/>
                    <a:pt x="671032" y="27547"/>
                  </a:cubicBezTo>
                  <a:cubicBezTo>
                    <a:pt x="688670" y="45185"/>
                    <a:pt x="698579" y="69107"/>
                    <a:pt x="698579" y="94051"/>
                  </a:cubicBezTo>
                  <a:lnTo>
                    <a:pt x="698579" y="94051"/>
                  </a:lnTo>
                  <a:cubicBezTo>
                    <a:pt x="698579" y="145993"/>
                    <a:pt x="656471" y="188101"/>
                    <a:pt x="604529" y="188101"/>
                  </a:cubicBezTo>
                  <a:lnTo>
                    <a:pt x="94051" y="188101"/>
                  </a:lnTo>
                  <a:cubicBezTo>
                    <a:pt x="69107" y="188101"/>
                    <a:pt x="45185" y="178192"/>
                    <a:pt x="27547" y="160554"/>
                  </a:cubicBezTo>
                  <a:cubicBezTo>
                    <a:pt x="9909" y="142917"/>
                    <a:pt x="0" y="118994"/>
                    <a:pt x="0" y="94051"/>
                  </a:cubicBezTo>
                  <a:lnTo>
                    <a:pt x="0" y="94051"/>
                  </a:lnTo>
                  <a:cubicBezTo>
                    <a:pt x="0" y="69107"/>
                    <a:pt x="9909" y="45185"/>
                    <a:pt x="27547" y="27547"/>
                  </a:cubicBezTo>
                  <a:cubicBezTo>
                    <a:pt x="45185" y="9909"/>
                    <a:pt x="69107" y="0"/>
                    <a:pt x="94051" y="0"/>
                  </a:cubicBezTo>
                  <a:close/>
                </a:path>
              </a:pathLst>
            </a:custGeom>
            <a:solidFill>
              <a:srgbClr val="EDE0CA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57150"/>
              <a:ext cx="698579" cy="130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94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028700" y="6808227"/>
            <a:ext cx="3215829" cy="3583097"/>
          </a:xfrm>
          <a:custGeom>
            <a:avLst/>
            <a:gdLst/>
            <a:ahLst/>
            <a:cxnLst/>
            <a:rect l="l" t="t" r="r" b="b"/>
            <a:pathLst>
              <a:path w="3215829" h="3583097">
                <a:moveTo>
                  <a:pt x="0" y="0"/>
                </a:moveTo>
                <a:lnTo>
                  <a:pt x="3215829" y="0"/>
                </a:lnTo>
                <a:lnTo>
                  <a:pt x="3215829" y="3583097"/>
                </a:lnTo>
                <a:lnTo>
                  <a:pt x="0" y="35830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TextBox 13"/>
          <p:cNvSpPr txBox="1"/>
          <p:nvPr/>
        </p:nvSpPr>
        <p:spPr>
          <a:xfrm>
            <a:off x="1045230" y="909693"/>
            <a:ext cx="12493775" cy="3385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48"/>
              </a:lnSpc>
            </a:pPr>
            <a:r>
              <a:rPr lang="en-US" sz="13191" b="1" spc="-593">
                <a:solidFill>
                  <a:srgbClr val="3B3B3B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Stay Connected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22740" y="2514607"/>
            <a:ext cx="11084028" cy="3024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948"/>
              </a:lnSpc>
            </a:pPr>
            <a:r>
              <a:rPr lang="en-US" sz="13191" b="1" spc="-593">
                <a:solidFill>
                  <a:srgbClr val="A4591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with Borcelle!</a:t>
            </a:r>
          </a:p>
        </p:txBody>
      </p:sp>
      <p:sp>
        <p:nvSpPr>
          <p:cNvPr id="15" name="Freeform 15"/>
          <p:cNvSpPr/>
          <p:nvPr/>
        </p:nvSpPr>
        <p:spPr>
          <a:xfrm rot="758778">
            <a:off x="13273025" y="1363679"/>
            <a:ext cx="1981510" cy="906118"/>
          </a:xfrm>
          <a:custGeom>
            <a:avLst/>
            <a:gdLst/>
            <a:ahLst/>
            <a:cxnLst/>
            <a:rect l="l" t="t" r="r" b="b"/>
            <a:pathLst>
              <a:path w="1981510" h="906118">
                <a:moveTo>
                  <a:pt x="0" y="0"/>
                </a:moveTo>
                <a:lnTo>
                  <a:pt x="1981510" y="0"/>
                </a:lnTo>
                <a:lnTo>
                  <a:pt x="1981510" y="906118"/>
                </a:lnTo>
                <a:lnTo>
                  <a:pt x="0" y="9061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6"/>
          <p:cNvSpPr/>
          <p:nvPr/>
        </p:nvSpPr>
        <p:spPr>
          <a:xfrm>
            <a:off x="14043108" y="5653330"/>
            <a:ext cx="3216192" cy="4652720"/>
          </a:xfrm>
          <a:custGeom>
            <a:avLst/>
            <a:gdLst/>
            <a:ahLst/>
            <a:cxnLst/>
            <a:rect l="l" t="t" r="r" b="b"/>
            <a:pathLst>
              <a:path w="3216192" h="4652720">
                <a:moveTo>
                  <a:pt x="0" y="0"/>
                </a:moveTo>
                <a:lnTo>
                  <a:pt x="3216192" y="0"/>
                </a:lnTo>
                <a:lnTo>
                  <a:pt x="3216192" y="4652720"/>
                </a:lnTo>
                <a:lnTo>
                  <a:pt x="0" y="46527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TextBox 17"/>
          <p:cNvSpPr txBox="1"/>
          <p:nvPr/>
        </p:nvSpPr>
        <p:spPr>
          <a:xfrm>
            <a:off x="1028700" y="4643680"/>
            <a:ext cx="3119317" cy="1466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11"/>
              </a:lnSpc>
              <a:spcBef>
                <a:spcPct val="0"/>
              </a:spcBef>
            </a:pPr>
            <a:r>
              <a:rPr lang="en-US" sz="2799" b="1" u="none" strike="noStrike" spc="-125">
                <a:solidFill>
                  <a:srgbClr val="A4591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Follow us for pet care tips, special promos &amp; adorable pet content!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96928" y="6456826"/>
            <a:ext cx="2226019" cy="275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2100" spc="-94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@reallygreatsite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08749" y="7302997"/>
            <a:ext cx="3169609" cy="275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2100" spc="-94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www.reallygreatsite.com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109937" y="8152022"/>
            <a:ext cx="2093908" cy="275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2100" spc="-94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+123-456-7890</a:t>
            </a:r>
          </a:p>
        </p:txBody>
      </p:sp>
      <p:sp>
        <p:nvSpPr>
          <p:cNvPr id="21" name="Freeform 21"/>
          <p:cNvSpPr/>
          <p:nvPr/>
        </p:nvSpPr>
        <p:spPr>
          <a:xfrm rot="1094321">
            <a:off x="4741420" y="3316907"/>
            <a:ext cx="1161831" cy="1096346"/>
          </a:xfrm>
          <a:custGeom>
            <a:avLst/>
            <a:gdLst/>
            <a:ahLst/>
            <a:cxnLst/>
            <a:rect l="l" t="t" r="r" b="b"/>
            <a:pathLst>
              <a:path w="1161831" h="1096346">
                <a:moveTo>
                  <a:pt x="0" y="0"/>
                </a:moveTo>
                <a:lnTo>
                  <a:pt x="1161831" y="0"/>
                </a:lnTo>
                <a:lnTo>
                  <a:pt x="1161831" y="1096346"/>
                </a:lnTo>
                <a:lnTo>
                  <a:pt x="0" y="10963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2" name="Freeform 22"/>
          <p:cNvSpPr/>
          <p:nvPr/>
        </p:nvSpPr>
        <p:spPr>
          <a:xfrm rot="1789201">
            <a:off x="9521393" y="8728270"/>
            <a:ext cx="571987" cy="619277"/>
          </a:xfrm>
          <a:custGeom>
            <a:avLst/>
            <a:gdLst/>
            <a:ahLst/>
            <a:cxnLst/>
            <a:rect l="l" t="t" r="r" b="b"/>
            <a:pathLst>
              <a:path w="571987" h="619277">
                <a:moveTo>
                  <a:pt x="0" y="0"/>
                </a:moveTo>
                <a:lnTo>
                  <a:pt x="571987" y="0"/>
                </a:lnTo>
                <a:lnTo>
                  <a:pt x="571987" y="619276"/>
                </a:lnTo>
                <a:lnTo>
                  <a:pt x="0" y="61927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3" name="Freeform 23"/>
          <p:cNvSpPr/>
          <p:nvPr/>
        </p:nvSpPr>
        <p:spPr>
          <a:xfrm rot="-311407">
            <a:off x="1844857" y="1176369"/>
            <a:ext cx="429673" cy="403892"/>
          </a:xfrm>
          <a:custGeom>
            <a:avLst/>
            <a:gdLst/>
            <a:ahLst/>
            <a:cxnLst/>
            <a:rect l="l" t="t" r="r" b="b"/>
            <a:pathLst>
              <a:path w="429673" h="403892">
                <a:moveTo>
                  <a:pt x="0" y="0"/>
                </a:moveTo>
                <a:lnTo>
                  <a:pt x="429672" y="0"/>
                </a:lnTo>
                <a:lnTo>
                  <a:pt x="429672" y="403892"/>
                </a:lnTo>
                <a:lnTo>
                  <a:pt x="0" y="4038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4044" y="1036444"/>
            <a:ext cx="16910818" cy="5507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48"/>
              </a:lnSpc>
            </a:pPr>
            <a:r>
              <a:rPr lang="en-US" sz="13191" b="1" spc="-593">
                <a:solidFill>
                  <a:srgbClr val="3B3B3B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Thank you for choosing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52014" y="3432051"/>
            <a:ext cx="7383973" cy="2171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948"/>
              </a:lnSpc>
            </a:pPr>
            <a:r>
              <a:rPr lang="en-US" sz="13191" b="1" spc="-593" dirty="0" err="1">
                <a:solidFill>
                  <a:srgbClr val="A4591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Borcelle</a:t>
            </a:r>
            <a:r>
              <a:rPr lang="en-US" sz="13191" b="1" spc="-593" dirty="0">
                <a:solidFill>
                  <a:srgbClr val="A4591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 rot="-502450">
            <a:off x="8125846" y="2720099"/>
            <a:ext cx="1927215" cy="881289"/>
          </a:xfrm>
          <a:custGeom>
            <a:avLst/>
            <a:gdLst/>
            <a:ahLst/>
            <a:cxnLst/>
            <a:rect l="l" t="t" r="r" b="b"/>
            <a:pathLst>
              <a:path w="1927215" h="881289">
                <a:moveTo>
                  <a:pt x="0" y="0"/>
                </a:moveTo>
                <a:lnTo>
                  <a:pt x="1927215" y="0"/>
                </a:lnTo>
                <a:lnTo>
                  <a:pt x="1927215" y="881289"/>
                </a:lnTo>
                <a:lnTo>
                  <a:pt x="0" y="8812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>
            <a:off x="1479796" y="5300488"/>
            <a:ext cx="6184081" cy="3957812"/>
          </a:xfrm>
          <a:custGeom>
            <a:avLst/>
            <a:gdLst/>
            <a:ahLst/>
            <a:cxnLst/>
            <a:rect l="l" t="t" r="r" b="b"/>
            <a:pathLst>
              <a:path w="6184081" h="3957812">
                <a:moveTo>
                  <a:pt x="0" y="0"/>
                </a:moveTo>
                <a:lnTo>
                  <a:pt x="6184081" y="0"/>
                </a:lnTo>
                <a:lnTo>
                  <a:pt x="6184081" y="3957812"/>
                </a:lnTo>
                <a:lnTo>
                  <a:pt x="0" y="395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/>
          <p:cNvSpPr/>
          <p:nvPr/>
        </p:nvSpPr>
        <p:spPr>
          <a:xfrm>
            <a:off x="10774896" y="5300488"/>
            <a:ext cx="4826599" cy="3957812"/>
          </a:xfrm>
          <a:custGeom>
            <a:avLst/>
            <a:gdLst/>
            <a:ahLst/>
            <a:cxnLst/>
            <a:rect l="l" t="t" r="r" b="b"/>
            <a:pathLst>
              <a:path w="4826599" h="3957812">
                <a:moveTo>
                  <a:pt x="0" y="0"/>
                </a:moveTo>
                <a:lnTo>
                  <a:pt x="4826599" y="0"/>
                </a:lnTo>
                <a:lnTo>
                  <a:pt x="4826599" y="3957812"/>
                </a:lnTo>
                <a:lnTo>
                  <a:pt x="0" y="39578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/>
          <p:cNvSpPr/>
          <p:nvPr/>
        </p:nvSpPr>
        <p:spPr>
          <a:xfrm rot="673616">
            <a:off x="8185630" y="5899088"/>
            <a:ext cx="1771042" cy="1717911"/>
          </a:xfrm>
          <a:custGeom>
            <a:avLst/>
            <a:gdLst/>
            <a:ahLst/>
            <a:cxnLst/>
            <a:rect l="l" t="t" r="r" b="b"/>
            <a:pathLst>
              <a:path w="1771042" h="1717911">
                <a:moveTo>
                  <a:pt x="0" y="0"/>
                </a:moveTo>
                <a:lnTo>
                  <a:pt x="1771042" y="0"/>
                </a:lnTo>
                <a:lnTo>
                  <a:pt x="1771042" y="1717911"/>
                </a:lnTo>
                <a:lnTo>
                  <a:pt x="0" y="17179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TextBox 8"/>
          <p:cNvSpPr txBox="1"/>
          <p:nvPr/>
        </p:nvSpPr>
        <p:spPr>
          <a:xfrm>
            <a:off x="7915096" y="8212074"/>
            <a:ext cx="2457807" cy="1046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</a:pPr>
            <a:r>
              <a:rPr lang="en-US" sz="2799" spc="-125">
                <a:solidFill>
                  <a:srgbClr val="3B3B3B"/>
                </a:solidFill>
                <a:latin typeface="Merriweather"/>
                <a:ea typeface="Merriweather"/>
                <a:cs typeface="Merriweather"/>
                <a:sym typeface="Merriweather"/>
              </a:rPr>
              <a:t>Happiness starts with a happy pet!</a:t>
            </a:r>
          </a:p>
        </p:txBody>
      </p:sp>
      <p:sp>
        <p:nvSpPr>
          <p:cNvPr id="9" name="Freeform 9"/>
          <p:cNvSpPr/>
          <p:nvPr/>
        </p:nvSpPr>
        <p:spPr>
          <a:xfrm rot="1094321">
            <a:off x="4174371" y="4420203"/>
            <a:ext cx="794930" cy="750125"/>
          </a:xfrm>
          <a:custGeom>
            <a:avLst/>
            <a:gdLst/>
            <a:ahLst/>
            <a:cxnLst/>
            <a:rect l="l" t="t" r="r" b="b"/>
            <a:pathLst>
              <a:path w="794930" h="750125">
                <a:moveTo>
                  <a:pt x="0" y="0"/>
                </a:moveTo>
                <a:lnTo>
                  <a:pt x="794930" y="0"/>
                </a:lnTo>
                <a:lnTo>
                  <a:pt x="794930" y="750125"/>
                </a:lnTo>
                <a:lnTo>
                  <a:pt x="0" y="7501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10"/>
          <p:cNvSpPr/>
          <p:nvPr/>
        </p:nvSpPr>
        <p:spPr>
          <a:xfrm rot="-1216290">
            <a:off x="15332000" y="1542622"/>
            <a:ext cx="957882" cy="903893"/>
          </a:xfrm>
          <a:custGeom>
            <a:avLst/>
            <a:gdLst/>
            <a:ahLst/>
            <a:cxnLst/>
            <a:rect l="l" t="t" r="r" b="b"/>
            <a:pathLst>
              <a:path w="957882" h="903893">
                <a:moveTo>
                  <a:pt x="0" y="0"/>
                </a:moveTo>
                <a:lnTo>
                  <a:pt x="957883" y="0"/>
                </a:lnTo>
                <a:lnTo>
                  <a:pt x="957883" y="903893"/>
                </a:lnTo>
                <a:lnTo>
                  <a:pt x="0" y="9038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11"/>
          <p:cNvSpPr/>
          <p:nvPr/>
        </p:nvSpPr>
        <p:spPr>
          <a:xfrm rot="1789201">
            <a:off x="13304304" y="4579992"/>
            <a:ext cx="571987" cy="619277"/>
          </a:xfrm>
          <a:custGeom>
            <a:avLst/>
            <a:gdLst/>
            <a:ahLst/>
            <a:cxnLst/>
            <a:rect l="l" t="t" r="r" b="b"/>
            <a:pathLst>
              <a:path w="571987" h="619277">
                <a:moveTo>
                  <a:pt x="0" y="0"/>
                </a:moveTo>
                <a:lnTo>
                  <a:pt x="571987" y="0"/>
                </a:lnTo>
                <a:lnTo>
                  <a:pt x="571987" y="619277"/>
                </a:lnTo>
                <a:lnTo>
                  <a:pt x="0" y="61927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12"/>
          <p:cNvSpPr/>
          <p:nvPr/>
        </p:nvSpPr>
        <p:spPr>
          <a:xfrm rot="-2003162">
            <a:off x="2618433" y="1190761"/>
            <a:ext cx="872196" cy="944306"/>
          </a:xfrm>
          <a:custGeom>
            <a:avLst/>
            <a:gdLst/>
            <a:ahLst/>
            <a:cxnLst/>
            <a:rect l="l" t="t" r="r" b="b"/>
            <a:pathLst>
              <a:path w="872196" h="944306">
                <a:moveTo>
                  <a:pt x="0" y="0"/>
                </a:moveTo>
                <a:lnTo>
                  <a:pt x="872195" y="0"/>
                </a:lnTo>
                <a:lnTo>
                  <a:pt x="872195" y="944306"/>
                </a:lnTo>
                <a:lnTo>
                  <a:pt x="0" y="9443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13"/>
          <p:cNvSpPr/>
          <p:nvPr/>
        </p:nvSpPr>
        <p:spPr>
          <a:xfrm rot="9033404">
            <a:off x="16141364" y="8185669"/>
            <a:ext cx="357437" cy="335991"/>
          </a:xfrm>
          <a:custGeom>
            <a:avLst/>
            <a:gdLst/>
            <a:ahLst/>
            <a:cxnLst/>
            <a:rect l="l" t="t" r="r" b="b"/>
            <a:pathLst>
              <a:path w="357437" h="335991">
                <a:moveTo>
                  <a:pt x="0" y="0"/>
                </a:moveTo>
                <a:lnTo>
                  <a:pt x="357438" y="0"/>
                </a:lnTo>
                <a:lnTo>
                  <a:pt x="357438" y="335990"/>
                </a:lnTo>
                <a:lnTo>
                  <a:pt x="0" y="3359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14"/>
          <p:cNvSpPr/>
          <p:nvPr/>
        </p:nvSpPr>
        <p:spPr>
          <a:xfrm rot="-1871266">
            <a:off x="1739777" y="2756484"/>
            <a:ext cx="357437" cy="335991"/>
          </a:xfrm>
          <a:custGeom>
            <a:avLst/>
            <a:gdLst/>
            <a:ahLst/>
            <a:cxnLst/>
            <a:rect l="l" t="t" r="r" b="b"/>
            <a:pathLst>
              <a:path w="357437" h="335991">
                <a:moveTo>
                  <a:pt x="0" y="0"/>
                </a:moveTo>
                <a:lnTo>
                  <a:pt x="357437" y="0"/>
                </a:lnTo>
                <a:lnTo>
                  <a:pt x="357437" y="335991"/>
                </a:lnTo>
                <a:lnTo>
                  <a:pt x="0" y="33599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33043" y="2310301"/>
            <a:ext cx="3611622" cy="4357915"/>
          </a:xfrm>
          <a:custGeom>
            <a:avLst/>
            <a:gdLst/>
            <a:ahLst/>
            <a:cxnLst/>
            <a:rect l="l" t="t" r="r" b="b"/>
            <a:pathLst>
              <a:path w="3611622" h="4357915">
                <a:moveTo>
                  <a:pt x="0" y="0"/>
                </a:moveTo>
                <a:lnTo>
                  <a:pt x="3611622" y="0"/>
                </a:lnTo>
                <a:lnTo>
                  <a:pt x="3611622" y="4357915"/>
                </a:lnTo>
                <a:lnTo>
                  <a:pt x="0" y="43579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>
            <a:off x="4685519" y="2968857"/>
            <a:ext cx="4198649" cy="4009710"/>
          </a:xfrm>
          <a:custGeom>
            <a:avLst/>
            <a:gdLst/>
            <a:ahLst/>
            <a:cxnLst/>
            <a:rect l="l" t="t" r="r" b="b"/>
            <a:pathLst>
              <a:path w="4198649" h="4009710">
                <a:moveTo>
                  <a:pt x="0" y="0"/>
                </a:moveTo>
                <a:lnTo>
                  <a:pt x="4198650" y="0"/>
                </a:lnTo>
                <a:lnTo>
                  <a:pt x="4198650" y="4009710"/>
                </a:lnTo>
                <a:lnTo>
                  <a:pt x="0" y="40097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/>
          <p:cNvSpPr/>
          <p:nvPr/>
        </p:nvSpPr>
        <p:spPr>
          <a:xfrm rot="-1070926">
            <a:off x="10233840" y="5451380"/>
            <a:ext cx="907417" cy="856272"/>
          </a:xfrm>
          <a:custGeom>
            <a:avLst/>
            <a:gdLst/>
            <a:ahLst/>
            <a:cxnLst/>
            <a:rect l="l" t="t" r="r" b="b"/>
            <a:pathLst>
              <a:path w="907417" h="856272">
                <a:moveTo>
                  <a:pt x="0" y="0"/>
                </a:moveTo>
                <a:lnTo>
                  <a:pt x="907417" y="0"/>
                </a:lnTo>
                <a:lnTo>
                  <a:pt x="907417" y="856272"/>
                </a:lnTo>
                <a:lnTo>
                  <a:pt x="0" y="8562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dirty="0"/>
          </a:p>
        </p:txBody>
      </p:sp>
      <p:sp>
        <p:nvSpPr>
          <p:cNvPr id="8" name="Freeform 8"/>
          <p:cNvSpPr/>
          <p:nvPr/>
        </p:nvSpPr>
        <p:spPr>
          <a:xfrm rot="-621157">
            <a:off x="5150954" y="1174437"/>
            <a:ext cx="2011343" cy="919760"/>
          </a:xfrm>
          <a:custGeom>
            <a:avLst/>
            <a:gdLst/>
            <a:ahLst/>
            <a:cxnLst/>
            <a:rect l="l" t="t" r="r" b="b"/>
            <a:pathLst>
              <a:path w="2011343" h="919760">
                <a:moveTo>
                  <a:pt x="0" y="0"/>
                </a:moveTo>
                <a:lnTo>
                  <a:pt x="2011343" y="0"/>
                </a:lnTo>
                <a:lnTo>
                  <a:pt x="2011343" y="919760"/>
                </a:lnTo>
                <a:lnTo>
                  <a:pt x="0" y="9197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13"/>
          <p:cNvSpPr/>
          <p:nvPr/>
        </p:nvSpPr>
        <p:spPr>
          <a:xfrm rot="1584023">
            <a:off x="10520852" y="2884031"/>
            <a:ext cx="800595" cy="866786"/>
          </a:xfrm>
          <a:custGeom>
            <a:avLst/>
            <a:gdLst/>
            <a:ahLst/>
            <a:cxnLst/>
            <a:rect l="l" t="t" r="r" b="b"/>
            <a:pathLst>
              <a:path w="800595" h="866786">
                <a:moveTo>
                  <a:pt x="0" y="0"/>
                </a:moveTo>
                <a:lnTo>
                  <a:pt x="800594" y="0"/>
                </a:lnTo>
                <a:lnTo>
                  <a:pt x="800594" y="866786"/>
                </a:lnTo>
                <a:lnTo>
                  <a:pt x="0" y="8667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14"/>
          <p:cNvSpPr/>
          <p:nvPr/>
        </p:nvSpPr>
        <p:spPr>
          <a:xfrm rot="-812894">
            <a:off x="10581420" y="3820435"/>
            <a:ext cx="800595" cy="866786"/>
          </a:xfrm>
          <a:custGeom>
            <a:avLst/>
            <a:gdLst/>
            <a:ahLst/>
            <a:cxnLst/>
            <a:rect l="l" t="t" r="r" b="b"/>
            <a:pathLst>
              <a:path w="800595" h="866786">
                <a:moveTo>
                  <a:pt x="0" y="0"/>
                </a:moveTo>
                <a:lnTo>
                  <a:pt x="800594" y="0"/>
                </a:lnTo>
                <a:lnTo>
                  <a:pt x="800594" y="866786"/>
                </a:lnTo>
                <a:lnTo>
                  <a:pt x="0" y="8667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8" name="Freeform 18"/>
          <p:cNvSpPr/>
          <p:nvPr/>
        </p:nvSpPr>
        <p:spPr>
          <a:xfrm>
            <a:off x="9454562" y="2677293"/>
            <a:ext cx="502563" cy="472410"/>
          </a:xfrm>
          <a:custGeom>
            <a:avLst/>
            <a:gdLst/>
            <a:ahLst/>
            <a:cxnLst/>
            <a:rect l="l" t="t" r="r" b="b"/>
            <a:pathLst>
              <a:path w="502563" h="472410">
                <a:moveTo>
                  <a:pt x="0" y="0"/>
                </a:moveTo>
                <a:lnTo>
                  <a:pt x="502563" y="0"/>
                </a:lnTo>
                <a:lnTo>
                  <a:pt x="502563" y="472409"/>
                </a:lnTo>
                <a:lnTo>
                  <a:pt x="0" y="4724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9" name="Freeform 19"/>
          <p:cNvSpPr/>
          <p:nvPr/>
        </p:nvSpPr>
        <p:spPr>
          <a:xfrm rot="9033404">
            <a:off x="8613635" y="2925263"/>
            <a:ext cx="502563" cy="472410"/>
          </a:xfrm>
          <a:custGeom>
            <a:avLst/>
            <a:gdLst/>
            <a:ahLst/>
            <a:cxnLst/>
            <a:rect l="l" t="t" r="r" b="b"/>
            <a:pathLst>
              <a:path w="502563" h="472410">
                <a:moveTo>
                  <a:pt x="0" y="0"/>
                </a:moveTo>
                <a:lnTo>
                  <a:pt x="502564" y="0"/>
                </a:lnTo>
                <a:lnTo>
                  <a:pt x="502564" y="472409"/>
                </a:lnTo>
                <a:lnTo>
                  <a:pt x="0" y="4724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0" name="Freeform 20"/>
          <p:cNvSpPr/>
          <p:nvPr/>
        </p:nvSpPr>
        <p:spPr>
          <a:xfrm rot="656078">
            <a:off x="12596823" y="2537988"/>
            <a:ext cx="713088" cy="861738"/>
          </a:xfrm>
          <a:custGeom>
            <a:avLst/>
            <a:gdLst/>
            <a:ahLst/>
            <a:cxnLst/>
            <a:rect l="l" t="t" r="r" b="b"/>
            <a:pathLst>
              <a:path w="713088" h="861738">
                <a:moveTo>
                  <a:pt x="0" y="0"/>
                </a:moveTo>
                <a:lnTo>
                  <a:pt x="713088" y="0"/>
                </a:lnTo>
                <a:lnTo>
                  <a:pt x="713088" y="861738"/>
                </a:lnTo>
                <a:lnTo>
                  <a:pt x="0" y="86173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1" name="Freeform 21"/>
          <p:cNvSpPr/>
          <p:nvPr/>
        </p:nvSpPr>
        <p:spPr>
          <a:xfrm rot="-1080025">
            <a:off x="13083363" y="3983710"/>
            <a:ext cx="801218" cy="968239"/>
          </a:xfrm>
          <a:custGeom>
            <a:avLst/>
            <a:gdLst/>
            <a:ahLst/>
            <a:cxnLst/>
            <a:rect l="l" t="t" r="r" b="b"/>
            <a:pathLst>
              <a:path w="801218" h="968239">
                <a:moveTo>
                  <a:pt x="0" y="0"/>
                </a:moveTo>
                <a:lnTo>
                  <a:pt x="801218" y="0"/>
                </a:lnTo>
                <a:lnTo>
                  <a:pt x="801218" y="968240"/>
                </a:lnTo>
                <a:lnTo>
                  <a:pt x="0" y="96824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2" name="Freeform 22"/>
          <p:cNvSpPr/>
          <p:nvPr/>
        </p:nvSpPr>
        <p:spPr>
          <a:xfrm rot="504335">
            <a:off x="13579118" y="2076781"/>
            <a:ext cx="1443067" cy="1510938"/>
          </a:xfrm>
          <a:custGeom>
            <a:avLst/>
            <a:gdLst/>
            <a:ahLst/>
            <a:cxnLst/>
            <a:rect l="l" t="t" r="r" b="b"/>
            <a:pathLst>
              <a:path w="1443067" h="1510938">
                <a:moveTo>
                  <a:pt x="0" y="0"/>
                </a:moveTo>
                <a:lnTo>
                  <a:pt x="1443068" y="0"/>
                </a:lnTo>
                <a:lnTo>
                  <a:pt x="1443068" y="1510937"/>
                </a:lnTo>
                <a:lnTo>
                  <a:pt x="0" y="151093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6" name="Freeform 26"/>
          <p:cNvSpPr/>
          <p:nvPr/>
        </p:nvSpPr>
        <p:spPr>
          <a:xfrm rot="-361884">
            <a:off x="9983480" y="1714179"/>
            <a:ext cx="1875341" cy="303464"/>
          </a:xfrm>
          <a:custGeom>
            <a:avLst/>
            <a:gdLst/>
            <a:ahLst/>
            <a:cxnLst/>
            <a:rect l="l" t="t" r="r" b="b"/>
            <a:pathLst>
              <a:path w="1875341" h="303464">
                <a:moveTo>
                  <a:pt x="0" y="0"/>
                </a:moveTo>
                <a:lnTo>
                  <a:pt x="1875340" y="0"/>
                </a:lnTo>
                <a:lnTo>
                  <a:pt x="1875340" y="303464"/>
                </a:lnTo>
                <a:lnTo>
                  <a:pt x="0" y="30346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7" name="Freeform 27"/>
          <p:cNvSpPr/>
          <p:nvPr/>
        </p:nvSpPr>
        <p:spPr>
          <a:xfrm>
            <a:off x="2100204" y="7478143"/>
            <a:ext cx="1852287" cy="2013356"/>
          </a:xfrm>
          <a:custGeom>
            <a:avLst/>
            <a:gdLst/>
            <a:ahLst/>
            <a:cxnLst/>
            <a:rect l="l" t="t" r="r" b="b"/>
            <a:pathLst>
              <a:path w="1852287" h="2013356">
                <a:moveTo>
                  <a:pt x="0" y="0"/>
                </a:moveTo>
                <a:lnTo>
                  <a:pt x="1852287" y="0"/>
                </a:lnTo>
                <a:lnTo>
                  <a:pt x="1852287" y="2013355"/>
                </a:lnTo>
                <a:lnTo>
                  <a:pt x="0" y="201335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9" name="Freeform 29"/>
          <p:cNvSpPr/>
          <p:nvPr/>
        </p:nvSpPr>
        <p:spPr>
          <a:xfrm rot="1292703">
            <a:off x="9094182" y="5284208"/>
            <a:ext cx="905069" cy="854056"/>
          </a:xfrm>
          <a:custGeom>
            <a:avLst/>
            <a:gdLst/>
            <a:ahLst/>
            <a:cxnLst/>
            <a:rect l="l" t="t" r="r" b="b"/>
            <a:pathLst>
              <a:path w="905069" h="854056">
                <a:moveTo>
                  <a:pt x="0" y="0"/>
                </a:moveTo>
                <a:lnTo>
                  <a:pt x="905068" y="0"/>
                </a:lnTo>
                <a:lnTo>
                  <a:pt x="905068" y="854056"/>
                </a:lnTo>
                <a:lnTo>
                  <a:pt x="0" y="854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630</Words>
  <Application>Microsoft Office PowerPoint</Application>
  <PresentationFormat>Benutzerdefiniert</PresentationFormat>
  <Paragraphs>89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0" baseType="lpstr">
      <vt:lpstr>Merriweather Bold</vt:lpstr>
      <vt:lpstr>Merriweather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and Cream Illustrative Pet Shop Presentation</dc:title>
  <cp:lastModifiedBy>Fanni Horvath</cp:lastModifiedBy>
  <cp:revision>2</cp:revision>
  <dcterms:created xsi:type="dcterms:W3CDTF">2006-08-16T00:00:00Z</dcterms:created>
  <dcterms:modified xsi:type="dcterms:W3CDTF">2025-11-02T20:45:16Z</dcterms:modified>
  <dc:identifier>DAG3kTL4qJ8</dc:identifier>
</cp:coreProperties>
</file>